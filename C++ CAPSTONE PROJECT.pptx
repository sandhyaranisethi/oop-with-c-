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9.svg" ContentType="image/svg+xml"/>
  <Override PartName="/ppt/media/image21.svg" ContentType="image/svg+xml"/>
  <Override PartName="/ppt/media/image23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8288000" cy="10287000"/>
  <p:notesSz cx="6858000" cy="9144000"/>
  <p:embeddedFontLst>
    <p:embeddedFont>
      <p:font typeface="Arimo Bold" panose="020B0704020202020204"/>
      <p:bold r:id="rId25"/>
    </p:embeddedFont>
    <p:embeddedFont>
      <p:font typeface="CanvaSansSC-Regular" charset="-128"/>
      <p:regular r:id="rId26"/>
    </p:embeddedFont>
    <p:embeddedFont>
      <p:font typeface="Arimo" panose="020B0604020202020204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image" Target="../media/image9.svg"/><Relationship Id="rId7" Type="http://schemas.openxmlformats.org/officeDocument/2006/relationships/image" Target="../media/image8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jpe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3.svg"/><Relationship Id="rId12" Type="http://schemas.openxmlformats.org/officeDocument/2006/relationships/image" Target="../media/image22.png"/><Relationship Id="rId11" Type="http://schemas.openxmlformats.org/officeDocument/2006/relationships/image" Target="../media/image21.svg"/><Relationship Id="rId10" Type="http://schemas.openxmlformats.org/officeDocument/2006/relationships/image" Target="../media/image20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9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1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39.svg"/><Relationship Id="rId7" Type="http://schemas.openxmlformats.org/officeDocument/2006/relationships/image" Target="../media/image38.svg"/><Relationship Id="rId6" Type="http://schemas.openxmlformats.org/officeDocument/2006/relationships/image" Target="../media/image4.pn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3" Type="http://schemas.openxmlformats.org/officeDocument/2006/relationships/image" Target="../media/image35.png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9" Type="http://schemas.openxmlformats.org/officeDocument/2006/relationships/image" Target="../media/image48.svg"/><Relationship Id="rId18" Type="http://schemas.openxmlformats.org/officeDocument/2006/relationships/image" Target="../media/image47.svg"/><Relationship Id="rId17" Type="http://schemas.openxmlformats.org/officeDocument/2006/relationships/image" Target="../media/image20.png"/><Relationship Id="rId16" Type="http://schemas.openxmlformats.org/officeDocument/2006/relationships/image" Target="../media/image46.svg"/><Relationship Id="rId15" Type="http://schemas.openxmlformats.org/officeDocument/2006/relationships/image" Target="../media/image45.svg"/><Relationship Id="rId14" Type="http://schemas.openxmlformats.org/officeDocument/2006/relationships/image" Target="../media/image22.png"/><Relationship Id="rId13" Type="http://schemas.openxmlformats.org/officeDocument/2006/relationships/image" Target="../media/image44.svg"/><Relationship Id="rId12" Type="http://schemas.openxmlformats.org/officeDocument/2006/relationships/image" Target="../media/image43.svg"/><Relationship Id="rId11" Type="http://schemas.openxmlformats.org/officeDocument/2006/relationships/image" Target="../media/image42.svg"/><Relationship Id="rId10" Type="http://schemas.openxmlformats.org/officeDocument/2006/relationships/image" Target="../media/image41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github.com/sandhyaranisethi" TargetMode="External"/><Relationship Id="rId2" Type="http://schemas.openxmlformats.org/officeDocument/2006/relationships/image" Target="../media/image50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-685800" y="4914833"/>
            <a:ext cx="8985123" cy="5810317"/>
            <a:chOff x="0" y="0"/>
            <a:chExt cx="11980164" cy="77470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80164" cy="7747127"/>
            </a:xfrm>
            <a:custGeom>
              <a:avLst/>
              <a:gdLst/>
              <a:ahLst/>
              <a:cxnLst/>
              <a:rect l="l" t="t" r="r" b="b"/>
              <a:pathLst>
                <a:path w="11980164" h="7747127">
                  <a:moveTo>
                    <a:pt x="0" y="0"/>
                  </a:moveTo>
                  <a:lnTo>
                    <a:pt x="11980164" y="0"/>
                  </a:lnTo>
                  <a:lnTo>
                    <a:pt x="11980164" y="7747127"/>
                  </a:lnTo>
                  <a:lnTo>
                    <a:pt x="0" y="774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7140" r="-29" b="-13355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476184" y="510797"/>
            <a:ext cx="15335631" cy="1999212"/>
            <a:chOff x="0" y="0"/>
            <a:chExt cx="20447508" cy="26656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447508" cy="2665603"/>
            </a:xfrm>
            <a:custGeom>
              <a:avLst/>
              <a:gdLst/>
              <a:ahLst/>
              <a:cxnLst/>
              <a:rect l="l" t="t" r="r" b="b"/>
              <a:pathLst>
                <a:path w="20447508" h="2665603">
                  <a:moveTo>
                    <a:pt x="0" y="0"/>
                  </a:moveTo>
                  <a:lnTo>
                    <a:pt x="20447508" y="0"/>
                  </a:lnTo>
                  <a:lnTo>
                    <a:pt x="20447508" y="2665603"/>
                  </a:lnTo>
                  <a:lnTo>
                    <a:pt x="0" y="2665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60" r="-3" b="-165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792480" y="3971544"/>
            <a:ext cx="944880" cy="548640"/>
            <a:chOff x="0" y="0"/>
            <a:chExt cx="944880" cy="548640"/>
          </a:xfrm>
        </p:grpSpPr>
        <p:sp>
          <p:nvSpPr>
            <p:cNvPr id="9" name="Freeform 9"/>
            <p:cNvSpPr/>
            <p:nvPr/>
          </p:nvSpPr>
          <p:spPr>
            <a:xfrm>
              <a:off x="2413" y="1270"/>
              <a:ext cx="942340" cy="544703"/>
            </a:xfrm>
            <a:custGeom>
              <a:avLst/>
              <a:gdLst/>
              <a:ahLst/>
              <a:cxnLst/>
              <a:rect l="l" t="t" r="r" b="b"/>
              <a:pathLst>
                <a:path w="942340" h="544703">
                  <a:moveTo>
                    <a:pt x="656590" y="0"/>
                  </a:moveTo>
                  <a:lnTo>
                    <a:pt x="399161" y="257683"/>
                  </a:lnTo>
                  <a:lnTo>
                    <a:pt x="456565" y="315087"/>
                  </a:lnTo>
                  <a:lnTo>
                    <a:pt x="714121" y="57404"/>
                  </a:lnTo>
                  <a:lnTo>
                    <a:pt x="656590" y="0"/>
                  </a:lnTo>
                  <a:close/>
                  <a:moveTo>
                    <a:pt x="57404" y="260477"/>
                  </a:moveTo>
                  <a:lnTo>
                    <a:pt x="0" y="318008"/>
                  </a:lnTo>
                  <a:lnTo>
                    <a:pt x="226822" y="544703"/>
                  </a:lnTo>
                  <a:lnTo>
                    <a:pt x="284226" y="487299"/>
                  </a:lnTo>
                  <a:lnTo>
                    <a:pt x="57404" y="260477"/>
                  </a:lnTo>
                  <a:close/>
                  <a:moveTo>
                    <a:pt x="886460" y="0"/>
                  </a:moveTo>
                  <a:lnTo>
                    <a:pt x="456438" y="429895"/>
                  </a:lnTo>
                  <a:lnTo>
                    <a:pt x="287020" y="260477"/>
                  </a:lnTo>
                  <a:lnTo>
                    <a:pt x="229616" y="317881"/>
                  </a:lnTo>
                  <a:lnTo>
                    <a:pt x="456438" y="544703"/>
                  </a:lnTo>
                  <a:lnTo>
                    <a:pt x="942340" y="58801"/>
                  </a:lnTo>
                  <a:lnTo>
                    <a:pt x="942340" y="56007"/>
                  </a:lnTo>
                  <a:lnTo>
                    <a:pt x="886460" y="0"/>
                  </a:lnTo>
                  <a:close/>
                </a:path>
              </a:pathLst>
            </a:custGeom>
            <a:solidFill>
              <a:srgbClr val="3885AB"/>
            </a:solid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1458937" y="0"/>
            <a:ext cx="6829063" cy="6339945"/>
            <a:chOff x="0" y="0"/>
            <a:chExt cx="9105417" cy="84532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05392" cy="8453247"/>
            </a:xfrm>
            <a:custGeom>
              <a:avLst/>
              <a:gdLst/>
              <a:ahLst/>
              <a:cxnLst/>
              <a:rect l="l" t="t" r="r" b="b"/>
              <a:pathLst>
                <a:path w="9105392" h="8453247">
                  <a:moveTo>
                    <a:pt x="0" y="0"/>
                  </a:moveTo>
                  <a:lnTo>
                    <a:pt x="9105392" y="0"/>
                  </a:lnTo>
                  <a:lnTo>
                    <a:pt x="9105392" y="8453247"/>
                  </a:lnTo>
                  <a:lnTo>
                    <a:pt x="0" y="8453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4035" r="-133123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730796" y="3897868"/>
            <a:ext cx="1071220" cy="695249"/>
            <a:chOff x="0" y="0"/>
            <a:chExt cx="1071220" cy="6952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1245" cy="695198"/>
            </a:xfrm>
            <a:custGeom>
              <a:avLst/>
              <a:gdLst/>
              <a:ahLst/>
              <a:cxnLst/>
              <a:rect l="l" t="t" r="r" b="b"/>
              <a:pathLst>
                <a:path w="1071245" h="695198">
                  <a:moveTo>
                    <a:pt x="0" y="695198"/>
                  </a:moveTo>
                  <a:lnTo>
                    <a:pt x="1071245" y="695198"/>
                  </a:lnTo>
                  <a:lnTo>
                    <a:pt x="10712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2029730" y="3079175"/>
            <a:ext cx="107328" cy="541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0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 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137077" y="3779063"/>
            <a:ext cx="14620904" cy="1898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75"/>
              </a:lnSpc>
            </a:pPr>
            <a:r>
              <a:rPr lang="en-US" sz="542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SUSTAINABLE E-COMMERCE PACKAGING  AND INVENTORY MANAGEMENT SYSTEM</a:t>
            </a:r>
            <a:endParaRPr lang="en-US" sz="542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543205" y="6394094"/>
            <a:ext cx="11101187" cy="541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0"/>
              </a:lnSpc>
            </a:pPr>
            <a:r>
              <a:rPr lang="en-US" sz="3090">
                <a:solidFill>
                  <a:srgbClr val="185079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DSA0101 - OBJECT ORIENTED PROGRAMMING WITH C++</a:t>
            </a:r>
            <a:endParaRPr lang="en-US" sz="3090">
              <a:solidFill>
                <a:srgbClr val="185079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776575" y="7651842"/>
            <a:ext cx="4096893" cy="161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BY: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l">
              <a:lnSpc>
                <a:spcPts val="4275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NEHLA FATHIMA  A RISHITHA  S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012514" y="8194767"/>
            <a:ext cx="2604602" cy="107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[1971260019] [1971260015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371193" y="8482441"/>
            <a:ext cx="120291" cy="598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3465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 </a:t>
            </a:r>
            <a:endParaRPr lang="en-US" sz="3465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131393" y="9092041"/>
            <a:ext cx="120291" cy="598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3465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 </a:t>
            </a:r>
            <a:endParaRPr lang="en-US" sz="3465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776575" y="9271092"/>
            <a:ext cx="6967623" cy="541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0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SANDHYARANI SETHI [1911260076]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57200" y="8343900"/>
            <a:ext cx="4139565" cy="62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3465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GUIDED BY:</a:t>
            </a:r>
            <a:endParaRPr lang="en-US" sz="3465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7200" y="9105900"/>
            <a:ext cx="8731250" cy="62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3465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Dr. PARIMALA KANAGA DEVAN  K</a:t>
            </a:r>
            <a:endParaRPr lang="en-US" sz="3465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4476683"/>
            <a:ext cx="8985123" cy="5810317"/>
            <a:chOff x="0" y="0"/>
            <a:chExt cx="11980164" cy="77470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80164" cy="7747127"/>
            </a:xfrm>
            <a:custGeom>
              <a:avLst/>
              <a:gdLst/>
              <a:ahLst/>
              <a:cxnLst/>
              <a:rect l="l" t="t" r="r" b="b"/>
              <a:pathLst>
                <a:path w="11980164" h="7747127">
                  <a:moveTo>
                    <a:pt x="0" y="0"/>
                  </a:moveTo>
                  <a:lnTo>
                    <a:pt x="11980164" y="0"/>
                  </a:lnTo>
                  <a:lnTo>
                    <a:pt x="11980164" y="7747127"/>
                  </a:lnTo>
                  <a:lnTo>
                    <a:pt x="0" y="774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7140" r="-29" b="-13355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9861328" y="0"/>
            <a:ext cx="8426672" cy="7171573"/>
            <a:chOff x="0" y="0"/>
            <a:chExt cx="11235563" cy="95620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35563" cy="9562084"/>
            </a:xfrm>
            <a:custGeom>
              <a:avLst/>
              <a:gdLst/>
              <a:ahLst/>
              <a:cxnLst/>
              <a:rect l="l" t="t" r="r" b="b"/>
              <a:pathLst>
                <a:path w="11235563" h="9562084">
                  <a:moveTo>
                    <a:pt x="0" y="0"/>
                  </a:moveTo>
                  <a:lnTo>
                    <a:pt x="11235563" y="0"/>
                  </a:lnTo>
                  <a:lnTo>
                    <a:pt x="11235563" y="9562084"/>
                  </a:lnTo>
                  <a:lnTo>
                    <a:pt x="0" y="9562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9215" r="-8892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1185920"/>
            <a:ext cx="5634885" cy="135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85"/>
              </a:lnSpc>
            </a:pPr>
            <a:r>
              <a:rPr lang="en-US" sz="7915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ABSTRACT</a:t>
            </a:r>
            <a:endParaRPr lang="en-US" sz="7915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68429" y="3031550"/>
            <a:ext cx="17086059" cy="542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20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TheSus tainableE-Commerce Packaging Inventory Management System is a C++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4820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based application designed to efficiently manage packaging materials used in e-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3575"/>
              </a:lnSpc>
            </a:pPr>
            <a:r>
              <a:rPr lang="en-US" sz="3090" b="1" spc="52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commerce operations. The system focuses on reducing packaging waste, avoiding</a:t>
            </a:r>
            <a:endParaRPr lang="en-US" sz="3090" b="1" spc="52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4820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stock shortages and improving the selection of suitable packaging. It consists of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3575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three major modules: Inventory Tracking, Smart Package Selection and Supplier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4820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Reorder. Object-oriented programming concepts such as classes, objects,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3575"/>
              </a:lnSpc>
            </a:pPr>
            <a:r>
              <a:rPr lang="en-US" sz="3090" b="1" spc="34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encapsulation, constructors and member functions are used to develop the system.</a:t>
            </a:r>
            <a:endParaRPr lang="en-US" sz="3090" b="1" spc="34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4820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By combining inventory monitoring with appropriate package selection and timely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3575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supplier reordering, the system supports efficient and sustainable packaging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4820"/>
              </a:lnSpc>
            </a:pPr>
            <a:r>
              <a:rPr lang="en-US" sz="309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management.</a:t>
            </a:r>
            <a:endParaRPr lang="en-US" sz="309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4936436"/>
            <a:ext cx="7762742" cy="5346573"/>
            <a:chOff x="0" y="0"/>
            <a:chExt cx="10350322" cy="71287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50373" cy="7128764"/>
            </a:xfrm>
            <a:custGeom>
              <a:avLst/>
              <a:gdLst/>
              <a:ahLst/>
              <a:cxnLst/>
              <a:rect l="l" t="t" r="r" b="b"/>
              <a:pathLst>
                <a:path w="10350373" h="7128764">
                  <a:moveTo>
                    <a:pt x="0" y="0"/>
                  </a:moveTo>
                  <a:lnTo>
                    <a:pt x="10350373" y="0"/>
                  </a:lnTo>
                  <a:lnTo>
                    <a:pt x="10350373" y="7128764"/>
                  </a:lnTo>
                  <a:lnTo>
                    <a:pt x="0" y="7128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5030" b="-15391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9640519" y="0"/>
            <a:ext cx="8644642" cy="7226046"/>
            <a:chOff x="0" y="0"/>
            <a:chExt cx="11526190" cy="96347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26139" cy="9634728"/>
            </a:xfrm>
            <a:custGeom>
              <a:avLst/>
              <a:gdLst/>
              <a:ahLst/>
              <a:cxnLst/>
              <a:rect l="l" t="t" r="r" b="b"/>
              <a:pathLst>
                <a:path w="11526139" h="9634728">
                  <a:moveTo>
                    <a:pt x="0" y="0"/>
                  </a:moveTo>
                  <a:lnTo>
                    <a:pt x="11526139" y="0"/>
                  </a:lnTo>
                  <a:lnTo>
                    <a:pt x="11526139" y="9634728"/>
                  </a:lnTo>
                  <a:lnTo>
                    <a:pt x="0" y="9634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7835" r="-84141" b="-44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50893" y="3170634"/>
            <a:ext cx="107394" cy="107394"/>
          </a:xfrm>
          <a:custGeom>
            <a:avLst/>
            <a:gdLst/>
            <a:ahLst/>
            <a:cxnLst/>
            <a:rect l="l" t="t" r="r" b="b"/>
            <a:pathLst>
              <a:path w="107394" h="107394">
                <a:moveTo>
                  <a:pt x="0" y="0"/>
                </a:moveTo>
                <a:lnTo>
                  <a:pt x="107394" y="0"/>
                </a:lnTo>
                <a:lnTo>
                  <a:pt x="107394" y="107395"/>
                </a:lnTo>
                <a:lnTo>
                  <a:pt x="0" y="1073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50893" y="4352001"/>
            <a:ext cx="107394" cy="107394"/>
          </a:xfrm>
          <a:custGeom>
            <a:avLst/>
            <a:gdLst/>
            <a:ahLst/>
            <a:cxnLst/>
            <a:rect l="l" t="t" r="r" b="b"/>
            <a:pathLst>
              <a:path w="107394" h="107394">
                <a:moveTo>
                  <a:pt x="0" y="0"/>
                </a:moveTo>
                <a:lnTo>
                  <a:pt x="107394" y="0"/>
                </a:lnTo>
                <a:lnTo>
                  <a:pt x="107394" y="107394"/>
                </a:lnTo>
                <a:lnTo>
                  <a:pt x="0" y="107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50893" y="5533368"/>
            <a:ext cx="107394" cy="107394"/>
          </a:xfrm>
          <a:custGeom>
            <a:avLst/>
            <a:gdLst/>
            <a:ahLst/>
            <a:cxnLst/>
            <a:rect l="l" t="t" r="r" b="b"/>
            <a:pathLst>
              <a:path w="107394" h="107394">
                <a:moveTo>
                  <a:pt x="0" y="0"/>
                </a:moveTo>
                <a:lnTo>
                  <a:pt x="107394" y="0"/>
                </a:lnTo>
                <a:lnTo>
                  <a:pt x="107394" y="107394"/>
                </a:lnTo>
                <a:lnTo>
                  <a:pt x="0" y="107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50893" y="6714744"/>
            <a:ext cx="107394" cy="107394"/>
          </a:xfrm>
          <a:custGeom>
            <a:avLst/>
            <a:gdLst/>
            <a:ahLst/>
            <a:cxnLst/>
            <a:rect l="l" t="t" r="r" b="b"/>
            <a:pathLst>
              <a:path w="107394" h="107394">
                <a:moveTo>
                  <a:pt x="0" y="0"/>
                </a:moveTo>
                <a:lnTo>
                  <a:pt x="107394" y="0"/>
                </a:lnTo>
                <a:lnTo>
                  <a:pt x="107394" y="107394"/>
                </a:lnTo>
                <a:lnTo>
                  <a:pt x="0" y="107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50893" y="7896111"/>
            <a:ext cx="107394" cy="107394"/>
          </a:xfrm>
          <a:custGeom>
            <a:avLst/>
            <a:gdLst/>
            <a:ahLst/>
            <a:cxnLst/>
            <a:rect l="l" t="t" r="r" b="b"/>
            <a:pathLst>
              <a:path w="107394" h="107394">
                <a:moveTo>
                  <a:pt x="0" y="0"/>
                </a:moveTo>
                <a:lnTo>
                  <a:pt x="107394" y="0"/>
                </a:lnTo>
                <a:lnTo>
                  <a:pt x="107394" y="107394"/>
                </a:lnTo>
                <a:lnTo>
                  <a:pt x="0" y="107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10436781" y="1631051"/>
            <a:ext cx="7248525" cy="7143750"/>
            <a:chOff x="0" y="0"/>
            <a:chExt cx="9664700" cy="952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64700" cy="9525000"/>
            </a:xfrm>
            <a:custGeom>
              <a:avLst/>
              <a:gdLst/>
              <a:ahLst/>
              <a:cxnLst/>
              <a:rect l="l" t="t" r="r" b="b"/>
              <a:pathLst>
                <a:path w="9664700" h="9525000">
                  <a:moveTo>
                    <a:pt x="0" y="0"/>
                  </a:moveTo>
                  <a:lnTo>
                    <a:pt x="9664700" y="0"/>
                  </a:lnTo>
                  <a:lnTo>
                    <a:pt x="9664700" y="9525000"/>
                  </a:lnTo>
                  <a:lnTo>
                    <a:pt x="0" y="952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1454" r="-2151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0">
            <a:off x="1350893" y="3170634"/>
            <a:ext cx="107394" cy="107394"/>
            <a:chOff x="0" y="0"/>
            <a:chExt cx="107391" cy="1073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439" cy="107439"/>
            </a:xfrm>
            <a:custGeom>
              <a:avLst/>
              <a:gdLst/>
              <a:ahLst/>
              <a:cxnLst/>
              <a:rect l="l" t="t" r="r" b="b"/>
              <a:pathLst>
                <a:path w="107439" h="107439">
                  <a:moveTo>
                    <a:pt x="0" y="107439"/>
                  </a:moveTo>
                  <a:lnTo>
                    <a:pt x="107439" y="107439"/>
                  </a:lnTo>
                  <a:lnTo>
                    <a:pt x="107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 rot="0">
            <a:off x="1350893" y="4352001"/>
            <a:ext cx="107394" cy="107394"/>
            <a:chOff x="0" y="0"/>
            <a:chExt cx="107391" cy="1073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439" cy="107439"/>
            </a:xfrm>
            <a:custGeom>
              <a:avLst/>
              <a:gdLst/>
              <a:ahLst/>
              <a:cxnLst/>
              <a:rect l="l" t="t" r="r" b="b"/>
              <a:pathLst>
                <a:path w="107439" h="107439">
                  <a:moveTo>
                    <a:pt x="0" y="107439"/>
                  </a:moveTo>
                  <a:lnTo>
                    <a:pt x="107439" y="107439"/>
                  </a:lnTo>
                  <a:lnTo>
                    <a:pt x="107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9" name="Group 19"/>
          <p:cNvGrpSpPr/>
          <p:nvPr/>
        </p:nvGrpSpPr>
        <p:grpSpPr>
          <a:xfrm rot="0">
            <a:off x="1350893" y="5533368"/>
            <a:ext cx="107394" cy="107394"/>
            <a:chOff x="0" y="0"/>
            <a:chExt cx="107391" cy="1073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439" cy="107439"/>
            </a:xfrm>
            <a:custGeom>
              <a:avLst/>
              <a:gdLst/>
              <a:ahLst/>
              <a:cxnLst/>
              <a:rect l="l" t="t" r="r" b="b"/>
              <a:pathLst>
                <a:path w="107439" h="107439">
                  <a:moveTo>
                    <a:pt x="0" y="107439"/>
                  </a:moveTo>
                  <a:lnTo>
                    <a:pt x="107439" y="107439"/>
                  </a:lnTo>
                  <a:lnTo>
                    <a:pt x="107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1" name="Group 21"/>
          <p:cNvGrpSpPr/>
          <p:nvPr/>
        </p:nvGrpSpPr>
        <p:grpSpPr>
          <a:xfrm rot="0">
            <a:off x="1350893" y="6714744"/>
            <a:ext cx="107394" cy="107394"/>
            <a:chOff x="0" y="0"/>
            <a:chExt cx="107391" cy="10739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439" cy="107439"/>
            </a:xfrm>
            <a:custGeom>
              <a:avLst/>
              <a:gdLst/>
              <a:ahLst/>
              <a:cxnLst/>
              <a:rect l="l" t="t" r="r" b="b"/>
              <a:pathLst>
                <a:path w="107439" h="107439">
                  <a:moveTo>
                    <a:pt x="0" y="107439"/>
                  </a:moveTo>
                  <a:lnTo>
                    <a:pt x="107439" y="107439"/>
                  </a:lnTo>
                  <a:lnTo>
                    <a:pt x="107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3" name="Group 23"/>
          <p:cNvGrpSpPr/>
          <p:nvPr/>
        </p:nvGrpSpPr>
        <p:grpSpPr>
          <a:xfrm rot="0">
            <a:off x="1350893" y="7896111"/>
            <a:ext cx="107394" cy="107394"/>
            <a:chOff x="0" y="0"/>
            <a:chExt cx="107391" cy="1073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439" cy="107439"/>
            </a:xfrm>
            <a:custGeom>
              <a:avLst/>
              <a:gdLst/>
              <a:ahLst/>
              <a:cxnLst/>
              <a:rect l="l" t="t" r="r" b="b"/>
              <a:pathLst>
                <a:path w="107439" h="107439">
                  <a:moveTo>
                    <a:pt x="0" y="107439"/>
                  </a:moveTo>
                  <a:lnTo>
                    <a:pt x="107439" y="107439"/>
                  </a:lnTo>
                  <a:lnTo>
                    <a:pt x="107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758667" y="2993003"/>
            <a:ext cx="7881852" cy="590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50"/>
              </a:lnSpc>
            </a:pPr>
            <a:r>
              <a:rPr lang="en-US" sz="3380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E-commerce uses large amounts of packaging materials.</a:t>
            </a:r>
            <a:endParaRPr lang="en-US" sz="3380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just">
              <a:lnSpc>
                <a:spcPts val="4650"/>
              </a:lnSpc>
            </a:pPr>
            <a:r>
              <a:rPr lang="en-US" sz="3380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Poor packaging management can cause waste and extra cost.</a:t>
            </a:r>
            <a:endParaRPr lang="en-US" sz="3380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just">
              <a:lnSpc>
                <a:spcPts val="4650"/>
              </a:lnSpc>
            </a:pPr>
            <a:r>
              <a:rPr lang="en-US" sz="3380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Proper inventory tracking prevents stock shortages.</a:t>
            </a:r>
            <a:endParaRPr lang="en-US" sz="3380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just">
              <a:lnSpc>
                <a:spcPts val="4650"/>
              </a:lnSpc>
            </a:pPr>
            <a:r>
              <a:rPr lang="en-US" sz="3380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Smart package selection reduces unnecessary material use.</a:t>
            </a:r>
            <a:endParaRPr lang="en-US" sz="3380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just">
              <a:lnSpc>
                <a:spcPts val="4650"/>
              </a:lnSpc>
            </a:pPr>
            <a:r>
              <a:rPr lang="en-US" sz="3380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Supplier reordering ensures packaging availability.</a:t>
            </a:r>
            <a:endParaRPr lang="en-US" sz="3380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16103" y="862689"/>
            <a:ext cx="8307143" cy="135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85"/>
              </a:lnSpc>
            </a:pPr>
            <a:r>
              <a:rPr lang="en-US" sz="7915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INTRODUCTION </a:t>
            </a:r>
            <a:endParaRPr lang="en-US" sz="7915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649634" y="-1178176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100986" y="1545765"/>
            <a:ext cx="14214043" cy="8525399"/>
            <a:chOff x="0" y="0"/>
            <a:chExt cx="18952058" cy="113671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52083" cy="11367135"/>
            </a:xfrm>
            <a:custGeom>
              <a:avLst/>
              <a:gdLst/>
              <a:ahLst/>
              <a:cxnLst/>
              <a:rect l="l" t="t" r="r" b="b"/>
              <a:pathLst>
                <a:path w="18952083" h="11367135">
                  <a:moveTo>
                    <a:pt x="0" y="0"/>
                  </a:moveTo>
                  <a:lnTo>
                    <a:pt x="18952083" y="0"/>
                  </a:lnTo>
                  <a:lnTo>
                    <a:pt x="18952083" y="11367135"/>
                  </a:lnTo>
                  <a:lnTo>
                    <a:pt x="0" y="11367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2" r="-85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9640519" y="0"/>
            <a:ext cx="8644642" cy="7226046"/>
            <a:chOff x="0" y="0"/>
            <a:chExt cx="11526190" cy="96347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526139" cy="9634728"/>
            </a:xfrm>
            <a:custGeom>
              <a:avLst/>
              <a:gdLst/>
              <a:ahLst/>
              <a:cxnLst/>
              <a:rect l="l" t="t" r="r" b="b"/>
              <a:pathLst>
                <a:path w="11526139" h="9634728">
                  <a:moveTo>
                    <a:pt x="0" y="0"/>
                  </a:moveTo>
                  <a:lnTo>
                    <a:pt x="11526139" y="0"/>
                  </a:lnTo>
                  <a:lnTo>
                    <a:pt x="11526139" y="9634728"/>
                  </a:lnTo>
                  <a:lnTo>
                    <a:pt x="0" y="9634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7835" r="-84141" b="-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0" y="5143500"/>
            <a:ext cx="8144456" cy="5143500"/>
            <a:chOff x="0" y="0"/>
            <a:chExt cx="10859275" cy="6858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59262" cy="6858000"/>
            </a:xfrm>
            <a:custGeom>
              <a:avLst/>
              <a:gdLst/>
              <a:ahLst/>
              <a:cxnLst/>
              <a:rect l="l" t="t" r="r" b="b"/>
              <a:pathLst>
                <a:path w="10859262" h="6858000">
                  <a:moveTo>
                    <a:pt x="0" y="0"/>
                  </a:moveTo>
                  <a:lnTo>
                    <a:pt x="10859262" y="0"/>
                  </a:lnTo>
                  <a:lnTo>
                    <a:pt x="1085926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5425" r="-32" b="-16382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71859" y="50406"/>
            <a:ext cx="10089652" cy="127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737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LITERATURE SURVEY</a:t>
            </a:r>
            <a:endParaRPr lang="en-US" sz="737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0050990" y="2038817"/>
            <a:ext cx="1400175" cy="1400175"/>
            <a:chOff x="0" y="0"/>
            <a:chExt cx="1866900" cy="1866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900" cy="1866900"/>
            </a:xfrm>
            <a:custGeom>
              <a:avLst/>
              <a:gdLst/>
              <a:ahLst/>
              <a:cxnLst/>
              <a:rect l="l" t="t" r="r" b="b"/>
              <a:pathLst>
                <a:path w="1866900" h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1866900"/>
                  </a:lnTo>
                  <a:lnTo>
                    <a:pt x="0" y="186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0064210" y="4449061"/>
            <a:ext cx="1381125" cy="1381125"/>
            <a:chOff x="0" y="0"/>
            <a:chExt cx="1841500" cy="1841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41500" cy="1841500"/>
            </a:xfrm>
            <a:custGeom>
              <a:avLst/>
              <a:gdLst/>
              <a:ahLst/>
              <a:cxnLst/>
              <a:rect l="l" t="t" r="r" b="b"/>
              <a:pathLst>
                <a:path w="1841500" h="1841500">
                  <a:moveTo>
                    <a:pt x="0" y="0"/>
                  </a:moveTo>
                  <a:lnTo>
                    <a:pt x="1841500" y="0"/>
                  </a:lnTo>
                  <a:lnTo>
                    <a:pt x="1841500" y="1841500"/>
                  </a:lnTo>
                  <a:lnTo>
                    <a:pt x="0" y="184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10064210" y="6862524"/>
            <a:ext cx="1381125" cy="1381125"/>
            <a:chOff x="0" y="0"/>
            <a:chExt cx="1841500" cy="1841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41500" cy="1841500"/>
            </a:xfrm>
            <a:custGeom>
              <a:avLst/>
              <a:gdLst/>
              <a:ahLst/>
              <a:cxnLst/>
              <a:rect l="l" t="t" r="r" b="b"/>
              <a:pathLst>
                <a:path w="1841500" h="1841500">
                  <a:moveTo>
                    <a:pt x="0" y="0"/>
                  </a:moveTo>
                  <a:lnTo>
                    <a:pt x="1841500" y="0"/>
                  </a:lnTo>
                  <a:lnTo>
                    <a:pt x="1841500" y="1841500"/>
                  </a:lnTo>
                  <a:lnTo>
                    <a:pt x="0" y="184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11660562" y="1605934"/>
            <a:ext cx="5295900" cy="2247900"/>
            <a:chOff x="0" y="0"/>
            <a:chExt cx="7061200" cy="2997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61200" cy="2997200"/>
            </a:xfrm>
            <a:custGeom>
              <a:avLst/>
              <a:gdLst/>
              <a:ahLst/>
              <a:cxnLst/>
              <a:rect l="l" t="t" r="r" b="b"/>
              <a:pathLst>
                <a:path w="7061200" h="2997200">
                  <a:moveTo>
                    <a:pt x="0" y="0"/>
                  </a:moveTo>
                  <a:lnTo>
                    <a:pt x="7061200" y="0"/>
                  </a:lnTo>
                  <a:lnTo>
                    <a:pt x="7061200" y="2997200"/>
                  </a:lnTo>
                  <a:lnTo>
                    <a:pt x="0" y="299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1660562" y="4016169"/>
            <a:ext cx="5295900" cy="4661373"/>
            <a:chOff x="0" y="0"/>
            <a:chExt cx="7061200" cy="62151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61200" cy="6215126"/>
            </a:xfrm>
            <a:custGeom>
              <a:avLst/>
              <a:gdLst/>
              <a:ahLst/>
              <a:cxnLst/>
              <a:rect l="l" t="t" r="r" b="b"/>
              <a:pathLst>
                <a:path w="7061200" h="6215126">
                  <a:moveTo>
                    <a:pt x="0" y="0"/>
                  </a:moveTo>
                  <a:lnTo>
                    <a:pt x="7061200" y="0"/>
                  </a:lnTo>
                  <a:lnTo>
                    <a:pt x="7061200" y="6215126"/>
                  </a:lnTo>
                  <a:lnTo>
                    <a:pt x="0" y="6215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0">
            <a:off x="1713605" y="3437687"/>
            <a:ext cx="7331688" cy="4358773"/>
            <a:chOff x="0" y="0"/>
            <a:chExt cx="9775584" cy="58116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75571" cy="5811647"/>
            </a:xfrm>
            <a:custGeom>
              <a:avLst/>
              <a:gdLst/>
              <a:ahLst/>
              <a:cxnLst/>
              <a:rect l="l" t="t" r="r" b="b"/>
              <a:pathLst>
                <a:path w="9775571" h="5811647">
                  <a:moveTo>
                    <a:pt x="0" y="0"/>
                  </a:moveTo>
                  <a:lnTo>
                    <a:pt x="9775571" y="0"/>
                  </a:lnTo>
                  <a:lnTo>
                    <a:pt x="9775571" y="5811647"/>
                  </a:lnTo>
                  <a:lnTo>
                    <a:pt x="0" y="5811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4386" t="-41117" r="-2107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2039600" y="2578608"/>
            <a:ext cx="94488" cy="97536"/>
          </a:xfrm>
          <a:custGeom>
            <a:avLst/>
            <a:gdLst/>
            <a:ahLst/>
            <a:cxnLst/>
            <a:rect l="l" t="t" r="r" b="b"/>
            <a:pathLst>
              <a:path w="94488" h="97536">
                <a:moveTo>
                  <a:pt x="0" y="0"/>
                </a:moveTo>
                <a:lnTo>
                  <a:pt x="94488" y="0"/>
                </a:lnTo>
                <a:lnTo>
                  <a:pt x="94488" y="97536"/>
                </a:lnTo>
                <a:lnTo>
                  <a:pt x="0" y="975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042648" y="498652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045696" y="7620000"/>
            <a:ext cx="76200" cy="73152"/>
          </a:xfrm>
          <a:custGeom>
            <a:avLst/>
            <a:gdLst/>
            <a:ahLst/>
            <a:cxnLst/>
            <a:rect l="l" t="t" r="r" b="b"/>
            <a:pathLst>
              <a:path w="76200" h="73152">
                <a:moveTo>
                  <a:pt x="0" y="0"/>
                </a:moveTo>
                <a:lnTo>
                  <a:pt x="76200" y="0"/>
                </a:lnTo>
                <a:lnTo>
                  <a:pt x="76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49925" y="986495"/>
            <a:ext cx="6182296" cy="2126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710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PROBLEM STATEMENT</a:t>
            </a:r>
            <a:endParaRPr lang="en-US" sz="7710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01903" y="8200320"/>
            <a:ext cx="8381810" cy="1355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930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Higher cost + Material wastage + Inventory problems</a:t>
            </a:r>
            <a:endParaRPr lang="en-US" sz="3930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311434" y="2319080"/>
            <a:ext cx="4209393" cy="917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250" b="1">
                <a:solidFill>
                  <a:srgbClr val="FBF6F1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Difficult to identify low-stock materials.</a:t>
            </a:r>
            <a:endParaRPr lang="en-US" sz="2250" b="1">
              <a:solidFill>
                <a:srgbClr val="FBF6F1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323121" y="4857531"/>
            <a:ext cx="3785892" cy="80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305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Use of unnecessarily large boxes.</a:t>
            </a:r>
            <a:endParaRPr lang="en-US" sz="2305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321683" y="7483440"/>
            <a:ext cx="3987175" cy="397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0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Delayed supplier reordering.</a:t>
            </a:r>
            <a:endParaRPr lang="en-US" sz="2270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481215" y="2244814"/>
            <a:ext cx="488347" cy="116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90"/>
              </a:lnSpc>
            </a:pPr>
            <a:r>
              <a:rPr lang="en-US" sz="6780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1</a:t>
            </a:r>
            <a:endParaRPr lang="en-US" sz="6780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441496" y="4636208"/>
            <a:ext cx="488347" cy="116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90"/>
              </a:lnSpc>
            </a:pPr>
            <a:r>
              <a:rPr lang="en-US" sz="6780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2</a:t>
            </a:r>
            <a:endParaRPr lang="en-US" sz="6780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401786" y="7027602"/>
            <a:ext cx="488347" cy="1167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90"/>
              </a:lnSpc>
            </a:pPr>
            <a:r>
              <a:rPr lang="en-US" sz="6780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3</a:t>
            </a:r>
            <a:endParaRPr lang="en-US" sz="6780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12337" y="694220"/>
            <a:ext cx="16849725" cy="8943975"/>
            <a:chOff x="0" y="0"/>
            <a:chExt cx="22466300" cy="11925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66300" cy="11925300"/>
            </a:xfrm>
            <a:custGeom>
              <a:avLst/>
              <a:gdLst/>
              <a:ahLst/>
              <a:cxnLst/>
              <a:rect l="l" t="t" r="r" b="b"/>
              <a:pathLst>
                <a:path w="22466300" h="11925300">
                  <a:moveTo>
                    <a:pt x="0" y="0"/>
                  </a:moveTo>
                  <a:lnTo>
                    <a:pt x="22466300" y="0"/>
                  </a:lnTo>
                  <a:lnTo>
                    <a:pt x="22466300" y="11925300"/>
                  </a:lnTo>
                  <a:lnTo>
                    <a:pt x="0" y="1192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2164004" y="3706511"/>
            <a:ext cx="6981825" cy="5076825"/>
            <a:chOff x="0" y="0"/>
            <a:chExt cx="9309100" cy="6769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09100" cy="6769100"/>
            </a:xfrm>
            <a:custGeom>
              <a:avLst/>
              <a:gdLst/>
              <a:ahLst/>
              <a:cxnLst/>
              <a:rect l="l" t="t" r="r" b="b"/>
              <a:pathLst>
                <a:path w="9309100" h="6769100">
                  <a:moveTo>
                    <a:pt x="0" y="0"/>
                  </a:moveTo>
                  <a:lnTo>
                    <a:pt x="9309100" y="0"/>
                  </a:lnTo>
                  <a:lnTo>
                    <a:pt x="9309100" y="6769100"/>
                  </a:lnTo>
                  <a:lnTo>
                    <a:pt x="0" y="676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574" t="-1043" r="-24" b="-102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500628" y="6505765"/>
            <a:ext cx="853135" cy="83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5"/>
              </a:lnSpc>
            </a:pPr>
            <a:r>
              <a:rPr lang="en-US" sz="4845" b="1" spc="130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03</a:t>
            </a:r>
            <a:endParaRPr lang="en-US" sz="4845" b="1" spc="130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927396" y="7583414"/>
            <a:ext cx="73552" cy="36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70" b="1">
                <a:solidFill>
                  <a:srgbClr val="185079"/>
                </a:solidFill>
                <a:latin typeface="Open Sauce Medium" panose="00000600000000000000"/>
                <a:ea typeface="Open Sauce Medium" panose="00000600000000000000"/>
                <a:cs typeface="Open Sauce Medium" panose="00000600000000000000"/>
                <a:sym typeface="Open Sauce Medium" panose="00000600000000000000"/>
              </a:rPr>
              <a:t> </a:t>
            </a:r>
            <a:endParaRPr lang="en-US" sz="2070" b="1">
              <a:solidFill>
                <a:srgbClr val="185079"/>
              </a:solidFill>
              <a:latin typeface="Open Sauce Medium" panose="00000600000000000000"/>
              <a:ea typeface="Open Sauce Medium" panose="00000600000000000000"/>
              <a:cs typeface="Open Sauce Medium" panose="00000600000000000000"/>
              <a:sym typeface="Open Sauce Medium" panose="000006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500628" y="4049182"/>
            <a:ext cx="1036044" cy="866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5"/>
              </a:lnSpc>
            </a:pPr>
            <a:r>
              <a:rPr lang="en-US" sz="4845" b="1" spc="407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02</a:t>
            </a:r>
            <a:r>
              <a:rPr lang="en-US" sz="4845" b="1" spc="407">
                <a:solidFill>
                  <a:srgbClr val="185079"/>
                </a:solidFill>
                <a:latin typeface="Open Sauce Medium" panose="00000600000000000000"/>
                <a:ea typeface="Open Sauce Medium" panose="00000600000000000000"/>
                <a:cs typeface="Open Sauce Medium" panose="00000600000000000000"/>
                <a:sym typeface="Open Sauce Medium" panose="00000600000000000000"/>
              </a:rPr>
              <a:t> </a:t>
            </a:r>
            <a:endParaRPr lang="en-US" sz="4845" b="1" spc="407">
              <a:solidFill>
                <a:srgbClr val="185079"/>
              </a:solidFill>
              <a:latin typeface="Open Sauce Medium" panose="00000600000000000000"/>
              <a:ea typeface="Open Sauce Medium" panose="00000600000000000000"/>
              <a:cs typeface="Open Sauce Medium" panose="00000600000000000000"/>
              <a:sym typeface="Open Sauce Medium" panose="000006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00628" y="1596161"/>
            <a:ext cx="703717" cy="83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5"/>
              </a:lnSpc>
            </a:pPr>
            <a:r>
              <a:rPr lang="en-US" sz="4845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01</a:t>
            </a:r>
            <a:endParaRPr lang="en-US" sz="4845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426495" y="2612365"/>
            <a:ext cx="47254" cy="22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1330" b="1">
                <a:solidFill>
                  <a:srgbClr val="185079"/>
                </a:solidFill>
                <a:latin typeface="Open Sauce Medium" panose="00000600000000000000"/>
                <a:ea typeface="Open Sauce Medium" panose="00000600000000000000"/>
                <a:cs typeface="Open Sauce Medium" panose="00000600000000000000"/>
                <a:sym typeface="Open Sauce Medium" panose="00000600000000000000"/>
              </a:rPr>
              <a:t> </a:t>
            </a:r>
            <a:endParaRPr lang="en-US" sz="1330" b="1">
              <a:solidFill>
                <a:srgbClr val="185079"/>
              </a:solidFill>
              <a:latin typeface="Open Sauce Medium" panose="00000600000000000000"/>
              <a:ea typeface="Open Sauce Medium" panose="00000600000000000000"/>
              <a:cs typeface="Open Sauce Medium" panose="00000600000000000000"/>
              <a:sym typeface="Open Sauce Medium" panose="000006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614880" y="2444105"/>
            <a:ext cx="4688576" cy="378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5"/>
              </a:lnSpc>
            </a:pPr>
            <a:r>
              <a:rPr lang="en-US" sz="2220" b="1" spc="133">
                <a:solidFill>
                  <a:srgbClr val="185079"/>
                </a:solidFill>
                <a:latin typeface="Open Sauce Medium" panose="00000600000000000000"/>
                <a:ea typeface="Open Sauce Medium" panose="00000600000000000000"/>
                <a:cs typeface="Open Sauce Medium" panose="00000600000000000000"/>
                <a:sym typeface="Open Sauce Medium" panose="00000600000000000000"/>
              </a:rPr>
              <a:t>Low-stock alerts help identify</a:t>
            </a:r>
            <a:endParaRPr lang="en-US" sz="2220" b="1" spc="133">
              <a:solidFill>
                <a:srgbClr val="185079"/>
              </a:solidFill>
              <a:latin typeface="Open Sauce Medium" panose="00000600000000000000"/>
              <a:ea typeface="Open Sauce Medium" panose="00000600000000000000"/>
              <a:cs typeface="Open Sauce Medium" panose="00000600000000000000"/>
              <a:sym typeface="Open Sauce Medium" panose="000006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426495" y="2845651"/>
            <a:ext cx="3045057" cy="74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220" b="1" spc="133">
                <a:solidFill>
                  <a:srgbClr val="185079"/>
                </a:solidFill>
                <a:latin typeface="Open Sauce Medium" panose="00000600000000000000"/>
                <a:ea typeface="Open Sauce Medium" panose="00000600000000000000"/>
                <a:cs typeface="Open Sauce Medium" panose="00000600000000000000"/>
                <a:sym typeface="Open Sauce Medium" panose="00000600000000000000"/>
              </a:rPr>
              <a:t>materials that need replenishment.</a:t>
            </a:r>
            <a:endParaRPr lang="en-US" sz="2220" b="1" spc="133">
              <a:solidFill>
                <a:srgbClr val="185079"/>
              </a:solidFill>
              <a:latin typeface="Open Sauce Medium" panose="00000600000000000000"/>
              <a:ea typeface="Open Sauce Medium" panose="00000600000000000000"/>
              <a:cs typeface="Open Sauce Medium" panose="00000600000000000000"/>
              <a:sym typeface="Open Sauce Medium" panose="000006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554235" y="4860446"/>
            <a:ext cx="5477999" cy="107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5" b="1" spc="126">
                <a:solidFill>
                  <a:srgbClr val="185079"/>
                </a:solidFill>
                <a:latin typeface="Open Sauce Medium" panose="00000600000000000000"/>
                <a:ea typeface="Open Sauce Medium" panose="00000600000000000000"/>
                <a:cs typeface="Open Sauce Medium" panose="00000600000000000000"/>
                <a:sym typeface="Open Sauce Medium" panose="00000600000000000000"/>
              </a:rPr>
              <a:t>Smartpackage selection helps choosethe appropriate package size and reduce waste.</a:t>
            </a:r>
            <a:endParaRPr lang="en-US" sz="2105" b="1" spc="126">
              <a:solidFill>
                <a:srgbClr val="185079"/>
              </a:solidFill>
              <a:latin typeface="Open Sauce Medium" panose="00000600000000000000"/>
              <a:ea typeface="Open Sauce Medium" panose="00000600000000000000"/>
              <a:cs typeface="Open Sauce Medium" panose="00000600000000000000"/>
              <a:sym typeface="Open Sauce Medium" panose="000006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390805" y="7583414"/>
            <a:ext cx="4674965" cy="36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070" b="1" spc="124">
                <a:solidFill>
                  <a:srgbClr val="185079"/>
                </a:solidFill>
                <a:latin typeface="Open Sauce Medium" panose="00000600000000000000"/>
                <a:ea typeface="Open Sauce Medium" panose="00000600000000000000"/>
                <a:cs typeface="Open Sauce Medium" panose="00000600000000000000"/>
                <a:sym typeface="Open Sauce Medium" panose="00000600000000000000"/>
              </a:rPr>
              <a:t>Thesystem suggests reordering</a:t>
            </a:r>
            <a:endParaRPr lang="en-US" sz="2070" b="1" spc="124">
              <a:solidFill>
                <a:srgbClr val="185079"/>
              </a:solidFill>
              <a:latin typeface="Open Sauce Medium" panose="00000600000000000000"/>
              <a:ea typeface="Open Sauce Medium" panose="00000600000000000000"/>
              <a:cs typeface="Open Sauce Medium" panose="00000600000000000000"/>
              <a:sym typeface="Open Sauce Medium" panose="000006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390805" y="7959023"/>
            <a:ext cx="5456815" cy="71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070" b="1" spc="124">
                <a:solidFill>
                  <a:srgbClr val="185079"/>
                </a:solidFill>
                <a:latin typeface="Open Sauce Medium" panose="00000600000000000000"/>
                <a:ea typeface="Open Sauce Medium" panose="00000600000000000000"/>
                <a:cs typeface="Open Sauce Medium" panose="00000600000000000000"/>
                <a:sym typeface="Open Sauce Medium" panose="00000600000000000000"/>
              </a:rPr>
              <a:t>when the stock reaches the minimum level.</a:t>
            </a:r>
            <a:endParaRPr lang="en-US" sz="2070" b="1" spc="124">
              <a:solidFill>
                <a:srgbClr val="185079"/>
              </a:solidFill>
              <a:latin typeface="Open Sauce Medium" panose="00000600000000000000"/>
              <a:ea typeface="Open Sauce Medium" panose="00000600000000000000"/>
              <a:cs typeface="Open Sauce Medium" panose="00000600000000000000"/>
              <a:sym typeface="Open Sauce Medium" panose="000006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10011" y="1434732"/>
            <a:ext cx="5373405" cy="218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70"/>
              </a:lnSpc>
            </a:pPr>
            <a:r>
              <a:rPr lang="en-US" sz="7915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OUR SOLUTION</a:t>
            </a:r>
            <a:endParaRPr lang="en-US" sz="7915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4181132"/>
            <a:ext cx="8347043" cy="6105868"/>
            <a:chOff x="0" y="0"/>
            <a:chExt cx="11129391" cy="81411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129391" cy="8141208"/>
            </a:xfrm>
            <a:custGeom>
              <a:avLst/>
              <a:gdLst/>
              <a:ahLst/>
              <a:cxnLst/>
              <a:rect l="l" t="t" r="r" b="b"/>
              <a:pathLst>
                <a:path w="11129391" h="8141208">
                  <a:moveTo>
                    <a:pt x="0" y="0"/>
                  </a:moveTo>
                  <a:lnTo>
                    <a:pt x="11129391" y="0"/>
                  </a:lnTo>
                  <a:lnTo>
                    <a:pt x="11129391" y="8141208"/>
                  </a:lnTo>
                  <a:lnTo>
                    <a:pt x="0" y="814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0682" r="-55" b="-12227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2245797" y="0"/>
            <a:ext cx="6042184" cy="6404410"/>
            <a:chOff x="0" y="0"/>
            <a:chExt cx="8056245" cy="85392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056245" cy="8539226"/>
            </a:xfrm>
            <a:custGeom>
              <a:avLst/>
              <a:gdLst/>
              <a:ahLst/>
              <a:cxnLst/>
              <a:rect l="l" t="t" r="r" b="b"/>
              <a:pathLst>
                <a:path w="8056245" h="8539226">
                  <a:moveTo>
                    <a:pt x="0" y="0"/>
                  </a:moveTo>
                  <a:lnTo>
                    <a:pt x="8056245" y="0"/>
                  </a:lnTo>
                  <a:lnTo>
                    <a:pt x="8056245" y="8539226"/>
                  </a:lnTo>
                  <a:lnTo>
                    <a:pt x="0" y="8539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1866" r="-16346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9999374" y="537801"/>
            <a:ext cx="7658100" cy="9363075"/>
            <a:chOff x="0" y="0"/>
            <a:chExt cx="10210800" cy="12484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10800" cy="12484100"/>
            </a:xfrm>
            <a:custGeom>
              <a:avLst/>
              <a:gdLst/>
              <a:ahLst/>
              <a:cxnLst/>
              <a:rect l="l" t="t" r="r" b="b"/>
              <a:pathLst>
                <a:path w="10210800" h="12484100">
                  <a:moveTo>
                    <a:pt x="0" y="0"/>
                  </a:moveTo>
                  <a:lnTo>
                    <a:pt x="10210800" y="0"/>
                  </a:lnTo>
                  <a:lnTo>
                    <a:pt x="10210800" y="12484100"/>
                  </a:lnTo>
                  <a:lnTo>
                    <a:pt x="0" y="1248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9554" b="-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982448" y="387972"/>
            <a:ext cx="3745487" cy="117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5"/>
              </a:lnSpc>
            </a:pPr>
            <a:r>
              <a:rPr lang="en-US" sz="6820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SYSTEM</a:t>
            </a:r>
            <a:endParaRPr lang="en-US" sz="6820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54593" y="1321422"/>
            <a:ext cx="7153475" cy="117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5"/>
              </a:lnSpc>
            </a:pPr>
            <a:r>
              <a:rPr lang="en-US" sz="6820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ARCHITECTURE </a:t>
            </a:r>
            <a:endParaRPr lang="en-US" sz="6820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6566" y="2960846"/>
            <a:ext cx="7702677" cy="6322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235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1.</a:t>
            </a:r>
            <a:r>
              <a:rPr lang="en-US" sz="3235">
                <a:solidFill>
                  <a:srgbClr val="000000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 </a:t>
            </a:r>
            <a:r>
              <a:rPr lang="en-US" sz="3235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InventoryTracking:</a:t>
            </a:r>
            <a:endParaRPr lang="en-US" sz="3235">
              <a:solidFill>
                <a:srgbClr val="185079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4500"/>
              </a:lnSpc>
            </a:pPr>
            <a:r>
              <a:rPr lang="en-US" sz="3235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Tracks packaging materials and available quantities.</a:t>
            </a:r>
            <a:endParaRPr lang="en-US" sz="3235">
              <a:solidFill>
                <a:srgbClr val="185079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 rtl="1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235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2. Smart Package:</a:t>
            </a:r>
            <a:endParaRPr lang="en-US" sz="3235">
              <a:solidFill>
                <a:srgbClr val="185079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4500"/>
              </a:lnSpc>
            </a:pPr>
            <a:r>
              <a:rPr lang="en-US" sz="3235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Selects the smallest suitable package for a product.</a:t>
            </a:r>
            <a:endParaRPr lang="en-US" sz="3235">
              <a:solidFill>
                <a:srgbClr val="185079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 rtl="1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235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3. Supplier Reorder:</a:t>
            </a:r>
            <a:endParaRPr lang="en-US" sz="3235">
              <a:solidFill>
                <a:srgbClr val="185079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  <a:p>
            <a:pPr algn="l">
              <a:lnSpc>
                <a:spcPts val="4500"/>
              </a:lnSpc>
            </a:pPr>
            <a:r>
              <a:rPr lang="en-US" sz="3235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Detects low stock and calculates the required reorder quantity.</a:t>
            </a:r>
            <a:endParaRPr lang="en-US" sz="3235">
              <a:solidFill>
                <a:srgbClr val="185079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498519" y="2499989"/>
            <a:ext cx="6553200" cy="4010025"/>
            <a:chOff x="0" y="0"/>
            <a:chExt cx="8737600" cy="5346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737600" cy="5346700"/>
            </a:xfrm>
            <a:custGeom>
              <a:avLst/>
              <a:gdLst/>
              <a:ahLst/>
              <a:cxnLst/>
              <a:rect l="l" t="t" r="r" b="b"/>
              <a:pathLst>
                <a:path w="8737600" h="5346700">
                  <a:moveTo>
                    <a:pt x="0" y="0"/>
                  </a:moveTo>
                  <a:lnTo>
                    <a:pt x="8737600" y="0"/>
                  </a:lnTo>
                  <a:lnTo>
                    <a:pt x="8737600" y="5346700"/>
                  </a:lnTo>
                  <a:lnTo>
                    <a:pt x="0" y="534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7883242" y="3113313"/>
            <a:ext cx="9982200" cy="5772150"/>
            <a:chOff x="0" y="0"/>
            <a:chExt cx="13309600" cy="769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09600" cy="7696200"/>
            </a:xfrm>
            <a:custGeom>
              <a:avLst/>
              <a:gdLst/>
              <a:ahLst/>
              <a:cxnLst/>
              <a:rect l="l" t="t" r="r" b="b"/>
              <a:pathLst>
                <a:path w="13309600" h="7696200">
                  <a:moveTo>
                    <a:pt x="0" y="0"/>
                  </a:moveTo>
                  <a:lnTo>
                    <a:pt x="13309600" y="0"/>
                  </a:lnTo>
                  <a:lnTo>
                    <a:pt x="13309600" y="7696200"/>
                  </a:lnTo>
                  <a:lnTo>
                    <a:pt x="0" y="769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22062" y="298809"/>
            <a:ext cx="5845178" cy="135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85"/>
              </a:lnSpc>
            </a:pPr>
            <a:r>
              <a:rPr lang="en-US" sz="7915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MODULE -1 </a:t>
            </a:r>
            <a:endParaRPr lang="en-US" sz="7915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28641" y="3686089"/>
            <a:ext cx="2489330" cy="44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Main Functions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899150" y="4150252"/>
            <a:ext cx="8135464" cy="2720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Stores package details such as ID, name and quantity.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36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Displays the current stock level.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36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Checks whether the stock is sufficient.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36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Gives a low-stock alert when quantity falls below the minimum level.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899150" y="6895300"/>
            <a:ext cx="1061466" cy="44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Helps 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331425" y="6895300"/>
            <a:ext cx="1365685" cy="44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prevent 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062098" y="6895300"/>
            <a:ext cx="852430" cy="44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both 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289290" y="6895300"/>
            <a:ext cx="1024271" cy="44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stock 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684978" y="6895300"/>
            <a:ext cx="1770545" cy="44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shortages 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812730" y="6895300"/>
            <a:ext cx="611181" cy="44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and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899150" y="7353757"/>
            <a:ext cx="4451966" cy="44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0">
                <a:solidFill>
                  <a:srgbClr val="FBF6F1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unnecessary overstocking.</a:t>
            </a:r>
            <a:endParaRPr lang="en-US" sz="2640">
              <a:solidFill>
                <a:srgbClr val="FBF6F1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049691" y="258889"/>
            <a:ext cx="8764924" cy="131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0"/>
              </a:lnSpc>
            </a:pPr>
            <a:r>
              <a:rPr lang="en-US" sz="7345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Inventory Tracking</a:t>
            </a:r>
            <a:endParaRPr lang="en-US" sz="7345">
              <a:solidFill>
                <a:srgbClr val="185079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9110" y="2786482"/>
            <a:ext cx="5761625" cy="284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330">
                <a:solidFill>
                  <a:srgbClr val="22549C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Purpose</a:t>
            </a:r>
            <a:endParaRPr lang="en-US" sz="3330">
              <a:solidFill>
                <a:srgbClr val="22549C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ctr">
              <a:lnSpc>
                <a:spcPts val="4500"/>
              </a:lnSpc>
            </a:pPr>
            <a:r>
              <a:rPr lang="en-US" sz="3330">
                <a:solidFill>
                  <a:srgbClr val="22549C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The Inventory Tracking Module helps monitor the quantity of packaging materials available in stock.</a:t>
            </a:r>
            <a:endParaRPr lang="en-US" sz="3330">
              <a:solidFill>
                <a:srgbClr val="22549C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62023" y="7226522"/>
            <a:ext cx="6892738" cy="2496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20"/>
              </a:lnSpc>
            </a:pPr>
            <a:r>
              <a:rPr lang="en-US" sz="4700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Class → Object → Constructor → Member Function</a:t>
            </a:r>
            <a:endParaRPr lang="en-US" sz="4700">
              <a:solidFill>
                <a:srgbClr val="185079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4936436"/>
            <a:ext cx="7762742" cy="5346573"/>
            <a:chOff x="0" y="0"/>
            <a:chExt cx="10350322" cy="71287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50373" cy="7128764"/>
            </a:xfrm>
            <a:custGeom>
              <a:avLst/>
              <a:gdLst/>
              <a:ahLst/>
              <a:cxnLst/>
              <a:rect l="l" t="t" r="r" b="b"/>
              <a:pathLst>
                <a:path w="10350373" h="7128764">
                  <a:moveTo>
                    <a:pt x="0" y="0"/>
                  </a:moveTo>
                  <a:lnTo>
                    <a:pt x="10350373" y="0"/>
                  </a:lnTo>
                  <a:lnTo>
                    <a:pt x="10350373" y="7128764"/>
                  </a:lnTo>
                  <a:lnTo>
                    <a:pt x="0" y="7128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5030" b="-15391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1275200" y="0"/>
            <a:ext cx="7012781" cy="5842416"/>
            <a:chOff x="0" y="0"/>
            <a:chExt cx="9350375" cy="77898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50375" cy="7789926"/>
            </a:xfrm>
            <a:custGeom>
              <a:avLst/>
              <a:gdLst/>
              <a:ahLst/>
              <a:cxnLst/>
              <a:rect l="l" t="t" r="r" b="b"/>
              <a:pathLst>
                <a:path w="9350375" h="7789926">
                  <a:moveTo>
                    <a:pt x="0" y="0"/>
                  </a:moveTo>
                  <a:lnTo>
                    <a:pt x="9350375" y="0"/>
                  </a:lnTo>
                  <a:lnTo>
                    <a:pt x="9350375" y="7789926"/>
                  </a:lnTo>
                  <a:lnTo>
                    <a:pt x="0" y="7789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2244" r="-127001" b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2437743" y="453600"/>
            <a:ext cx="14182725" cy="9382125"/>
            <a:chOff x="0" y="0"/>
            <a:chExt cx="18910300" cy="12509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910300" cy="12509500"/>
            </a:xfrm>
            <a:custGeom>
              <a:avLst/>
              <a:gdLst/>
              <a:ahLst/>
              <a:cxnLst/>
              <a:rect l="l" t="t" r="r" b="b"/>
              <a:pathLst>
                <a:path w="18910300" h="12509500">
                  <a:moveTo>
                    <a:pt x="0" y="0"/>
                  </a:moveTo>
                  <a:lnTo>
                    <a:pt x="18910300" y="0"/>
                  </a:lnTo>
                  <a:lnTo>
                    <a:pt x="18910300" y="12509500"/>
                  </a:lnTo>
                  <a:lnTo>
                    <a:pt x="0" y="1250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498519" y="2499989"/>
            <a:ext cx="6553200" cy="4010025"/>
            <a:chOff x="0" y="0"/>
            <a:chExt cx="8737600" cy="5346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737600" cy="5346700"/>
            </a:xfrm>
            <a:custGeom>
              <a:avLst/>
              <a:gdLst/>
              <a:ahLst/>
              <a:cxnLst/>
              <a:rect l="l" t="t" r="r" b="b"/>
              <a:pathLst>
                <a:path w="8737600" h="5346700">
                  <a:moveTo>
                    <a:pt x="0" y="0"/>
                  </a:moveTo>
                  <a:lnTo>
                    <a:pt x="8737600" y="0"/>
                  </a:lnTo>
                  <a:lnTo>
                    <a:pt x="8737600" y="5346700"/>
                  </a:lnTo>
                  <a:lnTo>
                    <a:pt x="0" y="534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7883242" y="3113313"/>
            <a:ext cx="9982200" cy="5772150"/>
            <a:chOff x="0" y="0"/>
            <a:chExt cx="13309600" cy="769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09600" cy="7696200"/>
            </a:xfrm>
            <a:custGeom>
              <a:avLst/>
              <a:gdLst/>
              <a:ahLst/>
              <a:cxnLst/>
              <a:rect l="l" t="t" r="r" b="b"/>
              <a:pathLst>
                <a:path w="13309600" h="7696200">
                  <a:moveTo>
                    <a:pt x="0" y="0"/>
                  </a:moveTo>
                  <a:lnTo>
                    <a:pt x="13309600" y="0"/>
                  </a:lnTo>
                  <a:lnTo>
                    <a:pt x="13309600" y="7696200"/>
                  </a:lnTo>
                  <a:lnTo>
                    <a:pt x="0" y="769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22062" y="298809"/>
            <a:ext cx="5773322" cy="135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85"/>
              </a:lnSpc>
            </a:pPr>
            <a:r>
              <a:rPr lang="en-US" sz="7915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MODULE -2</a:t>
            </a:r>
            <a:endParaRPr lang="en-US" sz="7915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59514" y="3585334"/>
            <a:ext cx="2878712" cy="530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5"/>
              </a:lnSpc>
            </a:pPr>
            <a:r>
              <a:rPr lang="en-US" sz="3030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Main Functions</a:t>
            </a:r>
            <a:endParaRPr lang="en-US" sz="3030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413577" y="4063032"/>
            <a:ext cx="7267108" cy="4187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030">
                <a:solidFill>
                  <a:srgbClr val="FBF6F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Takes product length, width and height as input.</a:t>
            </a:r>
            <a:endParaRPr lang="en-US" sz="3030">
              <a:solidFill>
                <a:srgbClr val="FBF6F1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4125"/>
              </a:lnSpc>
            </a:pPr>
            <a:r>
              <a:rPr lang="en-US" sz="3030">
                <a:solidFill>
                  <a:srgbClr val="FBF6F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Compares the product size with available packages.</a:t>
            </a:r>
            <a:endParaRPr lang="en-US" sz="3030">
              <a:solidFill>
                <a:srgbClr val="FBF6F1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4125"/>
              </a:lnSpc>
            </a:pPr>
            <a:r>
              <a:rPr lang="en-US" sz="3030">
                <a:solidFill>
                  <a:srgbClr val="FBF6F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Selects the smallest suitable package. Helps reduce unnecessary packaging material.</a:t>
            </a:r>
            <a:endParaRPr lang="en-US" sz="3030">
              <a:solidFill>
                <a:srgbClr val="FBF6F1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4125"/>
              </a:lnSpc>
            </a:pPr>
            <a:r>
              <a:rPr lang="en-US" sz="3030">
                <a:solidFill>
                  <a:srgbClr val="FBF6F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Supports sustainable packaging.</a:t>
            </a:r>
            <a:endParaRPr lang="en-US" sz="3030">
              <a:solidFill>
                <a:srgbClr val="FBF6F1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699258" y="528714"/>
            <a:ext cx="6961432" cy="1325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5"/>
              </a:lnSpc>
            </a:pPr>
            <a:r>
              <a:rPr lang="en-US" sz="7385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Smart Package</a:t>
            </a:r>
            <a:endParaRPr lang="en-US" sz="7385">
              <a:solidFill>
                <a:srgbClr val="185079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64521" y="2794568"/>
            <a:ext cx="5501878" cy="295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342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Purpose</a:t>
            </a:r>
            <a:endParaRPr lang="en-US" sz="342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ctr">
              <a:lnSpc>
                <a:spcPts val="4725"/>
              </a:lnSpc>
            </a:pPr>
            <a:r>
              <a:rPr lang="en-US" sz="3425">
                <a:solidFill>
                  <a:srgbClr val="18507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The Smart Package Module selects a suitable package based on the product dimensions.</a:t>
            </a:r>
            <a:endParaRPr lang="en-US" sz="3425">
              <a:solidFill>
                <a:srgbClr val="18507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86975" y="7071970"/>
            <a:ext cx="6519901" cy="2354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4530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Class → Object → Constructor → Member Function</a:t>
            </a:r>
            <a:endParaRPr lang="en-US" sz="4530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1275200" y="0"/>
            <a:ext cx="7012781" cy="5842416"/>
            <a:chOff x="0" y="0"/>
            <a:chExt cx="9350375" cy="77898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50375" cy="7789926"/>
            </a:xfrm>
            <a:custGeom>
              <a:avLst/>
              <a:gdLst/>
              <a:ahLst/>
              <a:cxnLst/>
              <a:rect l="l" t="t" r="r" b="b"/>
              <a:pathLst>
                <a:path w="9350375" h="7789926">
                  <a:moveTo>
                    <a:pt x="0" y="0"/>
                  </a:moveTo>
                  <a:lnTo>
                    <a:pt x="9350375" y="0"/>
                  </a:lnTo>
                  <a:lnTo>
                    <a:pt x="9350375" y="7789926"/>
                  </a:lnTo>
                  <a:lnTo>
                    <a:pt x="0" y="7789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2244" r="-12700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0" y="5143500"/>
            <a:ext cx="7952861" cy="5139290"/>
            <a:chOff x="0" y="0"/>
            <a:chExt cx="10603814" cy="68523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03865" cy="6852412"/>
            </a:xfrm>
            <a:custGeom>
              <a:avLst/>
              <a:gdLst/>
              <a:ahLst/>
              <a:cxnLst/>
              <a:rect l="l" t="t" r="r" b="b"/>
              <a:pathLst>
                <a:path w="10603865" h="6852412">
                  <a:moveTo>
                    <a:pt x="0" y="0"/>
                  </a:moveTo>
                  <a:lnTo>
                    <a:pt x="10603865" y="0"/>
                  </a:lnTo>
                  <a:lnTo>
                    <a:pt x="10603865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0087" b="-16407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2714930" y="77629"/>
            <a:ext cx="13420725" cy="9925050"/>
            <a:chOff x="0" y="0"/>
            <a:chExt cx="17894300" cy="13233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894300" cy="13233400"/>
            </a:xfrm>
            <a:custGeom>
              <a:avLst/>
              <a:gdLst/>
              <a:ahLst/>
              <a:cxnLst/>
              <a:rect l="l" t="t" r="r" b="b"/>
              <a:pathLst>
                <a:path w="17894300" h="13233400">
                  <a:moveTo>
                    <a:pt x="0" y="0"/>
                  </a:moveTo>
                  <a:lnTo>
                    <a:pt x="17894300" y="0"/>
                  </a:lnTo>
                  <a:lnTo>
                    <a:pt x="17894300" y="13233400"/>
                  </a:lnTo>
                  <a:lnTo>
                    <a:pt x="0" y="132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03792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498519" y="2499989"/>
            <a:ext cx="6553200" cy="4010025"/>
            <a:chOff x="0" y="0"/>
            <a:chExt cx="8737600" cy="5346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737600" cy="5346700"/>
            </a:xfrm>
            <a:custGeom>
              <a:avLst/>
              <a:gdLst/>
              <a:ahLst/>
              <a:cxnLst/>
              <a:rect l="l" t="t" r="r" b="b"/>
              <a:pathLst>
                <a:path w="8737600" h="5346700">
                  <a:moveTo>
                    <a:pt x="0" y="0"/>
                  </a:moveTo>
                  <a:lnTo>
                    <a:pt x="8737600" y="0"/>
                  </a:lnTo>
                  <a:lnTo>
                    <a:pt x="8737600" y="5346700"/>
                  </a:lnTo>
                  <a:lnTo>
                    <a:pt x="0" y="534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7883242" y="3113313"/>
            <a:ext cx="9982200" cy="5772150"/>
            <a:chOff x="0" y="0"/>
            <a:chExt cx="13309600" cy="7696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09600" cy="7696200"/>
            </a:xfrm>
            <a:custGeom>
              <a:avLst/>
              <a:gdLst/>
              <a:ahLst/>
              <a:cxnLst/>
              <a:rect l="l" t="t" r="r" b="b"/>
              <a:pathLst>
                <a:path w="13309600" h="7696200">
                  <a:moveTo>
                    <a:pt x="0" y="0"/>
                  </a:moveTo>
                  <a:lnTo>
                    <a:pt x="13309600" y="0"/>
                  </a:lnTo>
                  <a:lnTo>
                    <a:pt x="13309600" y="7696200"/>
                  </a:lnTo>
                  <a:lnTo>
                    <a:pt x="0" y="769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98519" y="392358"/>
            <a:ext cx="6089361" cy="560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5"/>
              </a:lnSpc>
            </a:pPr>
            <a:r>
              <a:rPr lang="en-US" sz="7915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MODULE -3</a:t>
            </a:r>
            <a:endParaRPr lang="en-US" sz="7915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  <a:p>
            <a:pPr algn="ctr">
              <a:lnSpc>
                <a:spcPts val="10805"/>
              </a:lnSpc>
            </a:pPr>
            <a:r>
              <a:rPr lang="en-US" sz="7915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 </a:t>
            </a:r>
            <a:endParaRPr lang="en-US" sz="7915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  <a:p>
            <a:pPr algn="ctr">
              <a:lnSpc>
                <a:spcPts val="4500"/>
              </a:lnSpc>
            </a:pPr>
            <a:r>
              <a:rPr lang="en-US" sz="329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Purpose</a:t>
            </a:r>
            <a:endParaRPr lang="en-US" sz="329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ctr">
              <a:lnSpc>
                <a:spcPts val="4500"/>
              </a:lnSpc>
            </a:pPr>
            <a:r>
              <a:rPr lang="en-US" sz="3295">
                <a:solidFill>
                  <a:srgbClr val="18507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The Supplier Reorder Module checks the packaging stock and suggests reordering when the quantity becomes low.</a:t>
            </a:r>
            <a:endParaRPr lang="en-US" sz="3295">
              <a:solidFill>
                <a:srgbClr val="18507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606266" y="3574532"/>
            <a:ext cx="3420837" cy="634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Main Functions</a:t>
            </a:r>
            <a:endParaRPr lang="en-US" sz="3600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383573" y="4142242"/>
            <a:ext cx="8323821" cy="376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3600">
                <a:solidFill>
                  <a:srgbClr val="FBF6F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Checks the current stock level. Compares stock with the minimum required level.</a:t>
            </a:r>
            <a:endParaRPr lang="en-US" sz="3600">
              <a:solidFill>
                <a:srgbClr val="FBF6F1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4950"/>
              </a:lnSpc>
            </a:pPr>
            <a:r>
              <a:rPr lang="en-US" sz="3600">
                <a:solidFill>
                  <a:srgbClr val="FBF6F1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Identifies when a reorder is needed. Calculates the required reorder quantity. Displays the supplier details.</a:t>
            </a:r>
            <a:endParaRPr lang="en-US" sz="3600">
              <a:solidFill>
                <a:srgbClr val="FBF6F1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15151" y="419214"/>
            <a:ext cx="7485440" cy="123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6875">
                <a:solidFill>
                  <a:srgbClr val="185079"/>
                </a:solidFill>
                <a:latin typeface="CanvaSansSC-Regular" charset="-128"/>
                <a:ea typeface="CanvaSansSC-Regular" charset="-128"/>
                <a:cs typeface="CanvaSansSC-Regular" charset="-128"/>
                <a:sym typeface="CanvaSansSC-Regular" charset="-128"/>
              </a:rPr>
              <a:t>Supplier Reorder</a:t>
            </a:r>
            <a:endParaRPr lang="en-US" sz="6875">
              <a:solidFill>
                <a:srgbClr val="185079"/>
              </a:solidFill>
              <a:latin typeface="CanvaSansSC-Regular" charset="-128"/>
              <a:ea typeface="CanvaSansSC-Regular" charset="-128"/>
              <a:cs typeface="CanvaSansSC-Regular" charset="-128"/>
              <a:sym typeface="CanvaSansSC-Regular" charset="-128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6975" y="7071970"/>
            <a:ext cx="6519901" cy="2354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4530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Class → Object → Constructor → Member Function</a:t>
            </a:r>
            <a:endParaRPr lang="en-US" sz="4530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7762742" cy="5479761"/>
            <a:chOff x="0" y="0"/>
            <a:chExt cx="10350322" cy="73063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50373" cy="7306310"/>
            </a:xfrm>
            <a:custGeom>
              <a:avLst/>
              <a:gdLst/>
              <a:ahLst/>
              <a:cxnLst/>
              <a:rect l="l" t="t" r="r" b="b"/>
              <a:pathLst>
                <a:path w="10350373" h="7306310">
                  <a:moveTo>
                    <a:pt x="0" y="0"/>
                  </a:moveTo>
                  <a:lnTo>
                    <a:pt x="10350373" y="0"/>
                  </a:lnTo>
                  <a:lnTo>
                    <a:pt x="10350373" y="7306310"/>
                  </a:lnTo>
                  <a:lnTo>
                    <a:pt x="0" y="7306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5030" t="-147672" b="-7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1275200" y="4688738"/>
            <a:ext cx="7012781" cy="5595014"/>
            <a:chOff x="0" y="0"/>
            <a:chExt cx="9350375" cy="74600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50375" cy="7459980"/>
            </a:xfrm>
            <a:custGeom>
              <a:avLst/>
              <a:gdLst/>
              <a:ahLst/>
              <a:cxnLst/>
              <a:rect l="l" t="t" r="r" b="b"/>
              <a:pathLst>
                <a:path w="9350375" h="7459980">
                  <a:moveTo>
                    <a:pt x="0" y="0"/>
                  </a:moveTo>
                  <a:lnTo>
                    <a:pt x="9350375" y="0"/>
                  </a:lnTo>
                  <a:lnTo>
                    <a:pt x="9350375" y="7459980"/>
                  </a:lnTo>
                  <a:lnTo>
                    <a:pt x="0" y="7459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27001" b="-14251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2350922" y="261957"/>
            <a:ext cx="13839825" cy="9648825"/>
            <a:chOff x="0" y="0"/>
            <a:chExt cx="18453100" cy="12865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453100" cy="12865100"/>
            </a:xfrm>
            <a:custGeom>
              <a:avLst/>
              <a:gdLst/>
              <a:ahLst/>
              <a:cxnLst/>
              <a:rect l="l" t="t" r="r" b="b"/>
              <a:pathLst>
                <a:path w="18453100" h="12865100">
                  <a:moveTo>
                    <a:pt x="0" y="0"/>
                  </a:moveTo>
                  <a:lnTo>
                    <a:pt x="18453100" y="0"/>
                  </a:lnTo>
                  <a:lnTo>
                    <a:pt x="18453100" y="12865100"/>
                  </a:lnTo>
                  <a:lnTo>
                    <a:pt x="0" y="1286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928688" y="-1566862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7193728" cy="5142205"/>
            <a:chOff x="0" y="0"/>
            <a:chExt cx="9591637" cy="68562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91675" cy="6856222"/>
            </a:xfrm>
            <a:custGeom>
              <a:avLst/>
              <a:gdLst/>
              <a:ahLst/>
              <a:cxnLst/>
              <a:rect l="l" t="t" r="r" b="b"/>
              <a:pathLst>
                <a:path w="9591675" h="6856222">
                  <a:moveTo>
                    <a:pt x="0" y="0"/>
                  </a:moveTo>
                  <a:lnTo>
                    <a:pt x="9591675" y="0"/>
                  </a:lnTo>
                  <a:lnTo>
                    <a:pt x="9591675" y="6856222"/>
                  </a:lnTo>
                  <a:lnTo>
                    <a:pt x="0" y="6856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1248" t="-163931" b="-7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1275200" y="4688738"/>
            <a:ext cx="7012781" cy="5595014"/>
            <a:chOff x="0" y="0"/>
            <a:chExt cx="9350375" cy="74600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350375" cy="7459980"/>
            </a:xfrm>
            <a:custGeom>
              <a:avLst/>
              <a:gdLst/>
              <a:ahLst/>
              <a:cxnLst/>
              <a:rect l="l" t="t" r="r" b="b"/>
              <a:pathLst>
                <a:path w="9350375" h="7459980">
                  <a:moveTo>
                    <a:pt x="0" y="0"/>
                  </a:moveTo>
                  <a:lnTo>
                    <a:pt x="9350375" y="0"/>
                  </a:lnTo>
                  <a:lnTo>
                    <a:pt x="9350375" y="7459980"/>
                  </a:lnTo>
                  <a:lnTo>
                    <a:pt x="0" y="7459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27001" b="-142518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439992" y="595751"/>
            <a:ext cx="11636007" cy="947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0"/>
              </a:lnSpc>
            </a:pPr>
            <a:r>
              <a:rPr lang="en-US" sz="543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TECHNOLOGIES AND CONCEPTS </a:t>
            </a:r>
            <a:endParaRPr lang="en-US" sz="543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85435" y="2318580"/>
            <a:ext cx="14258820" cy="1660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313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TECHNOLOGY:</a:t>
            </a:r>
            <a:endParaRPr lang="en-US" sz="313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l">
              <a:lnSpc>
                <a:spcPts val="1570"/>
              </a:lnSpc>
            </a:pPr>
          </a:p>
          <a:p>
            <a:pPr algn="l">
              <a:lnSpc>
                <a:spcPts val="1470"/>
              </a:lnSpc>
            </a:pPr>
            <a:r>
              <a:rPr lang="en-US" sz="2935">
                <a:solidFill>
                  <a:srgbClr val="18507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Programming Language: C++</a:t>
            </a:r>
            <a:endParaRPr lang="en-US" sz="2935">
              <a:solidFill>
                <a:srgbClr val="18507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6630"/>
              </a:lnSpc>
            </a:pPr>
            <a:r>
              <a:rPr lang="en-US" sz="2935">
                <a:solidFill>
                  <a:srgbClr val="18507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Programming Paradigm: Object-Oriented Programming (OOP)</a:t>
            </a:r>
            <a:endParaRPr lang="en-US" sz="2935">
              <a:solidFill>
                <a:srgbClr val="18507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1470"/>
              </a:lnSpc>
            </a:pPr>
            <a:r>
              <a:rPr lang="en-US" sz="2935">
                <a:solidFill>
                  <a:srgbClr val="18507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Interface Type: Console/menu-driven application (typical for such C++ OOP projects)</a:t>
            </a:r>
            <a:endParaRPr lang="en-US" sz="2935">
              <a:solidFill>
                <a:srgbClr val="18507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19885" y="5129908"/>
            <a:ext cx="120120" cy="57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0"/>
              </a:lnSpc>
            </a:pPr>
            <a:r>
              <a:rPr lang="en-US" sz="333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 </a:t>
            </a:r>
            <a:endParaRPr lang="en-US" sz="333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5435" y="5684691"/>
            <a:ext cx="17007326" cy="3592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935">
                <a:solidFill>
                  <a:srgbClr val="18507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Classes – Blueprints for Inventory items, Packages, and Suppliers.</a:t>
            </a:r>
            <a:endParaRPr lang="en-US" sz="2935">
              <a:solidFill>
                <a:srgbClr val="18507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4050"/>
              </a:lnSpc>
            </a:pPr>
            <a:r>
              <a:rPr lang="en-US" sz="2935">
                <a:solidFill>
                  <a:srgbClr val="18507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Objects – Real instances representing actual stock items, package options, and supplier records. Encapsulation – Groups data (quantity, dimensions, supplier details) with related functions, protecting internal details.</a:t>
            </a:r>
            <a:endParaRPr lang="en-US" sz="2935">
              <a:solidFill>
                <a:srgbClr val="18507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4050"/>
              </a:lnSpc>
            </a:pPr>
            <a:r>
              <a:rPr lang="en-US" sz="2935">
                <a:solidFill>
                  <a:srgbClr val="18507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Constructors – Auto-initialize object data when items/packages/suppliers are created.</a:t>
            </a:r>
            <a:endParaRPr lang="en-US" sz="2935">
              <a:solidFill>
                <a:srgbClr val="18507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  <a:p>
            <a:pPr algn="l">
              <a:lnSpc>
                <a:spcPts val="4050"/>
              </a:lnSpc>
            </a:pPr>
            <a:r>
              <a:rPr lang="en-US" sz="2935">
                <a:solidFill>
                  <a:srgbClr val="185079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Member Functions – Perform core logic: checking stock, comparing dimensions, calculating reorder quantity.</a:t>
            </a:r>
            <a:endParaRPr lang="en-US" sz="2935">
              <a:solidFill>
                <a:srgbClr val="185079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85435" y="5129908"/>
            <a:ext cx="3619367" cy="57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0"/>
              </a:lnSpc>
            </a:pPr>
            <a:r>
              <a:rPr lang="en-US" sz="333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OOP</a:t>
            </a:r>
            <a:r>
              <a:rPr lang="en-US" sz="3335" b="1">
                <a:solidFill>
                  <a:srgbClr val="000000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 </a:t>
            </a:r>
            <a:r>
              <a:rPr lang="en-US" sz="333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CONCEPTS:</a:t>
            </a:r>
            <a:endParaRPr lang="en-US" sz="333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52498" y="2212629"/>
            <a:ext cx="11830050" cy="5410200"/>
            <a:chOff x="0" y="0"/>
            <a:chExt cx="15773400" cy="7213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773400" cy="7213600"/>
            </a:xfrm>
            <a:custGeom>
              <a:avLst/>
              <a:gdLst/>
              <a:ahLst/>
              <a:cxnLst/>
              <a:rect l="l" t="t" r="r" b="b"/>
              <a:pathLst>
                <a:path w="15773400" h="7213600">
                  <a:moveTo>
                    <a:pt x="0" y="0"/>
                  </a:moveTo>
                  <a:lnTo>
                    <a:pt x="15773400" y="0"/>
                  </a:lnTo>
                  <a:lnTo>
                    <a:pt x="15773400" y="7213600"/>
                  </a:lnTo>
                  <a:lnTo>
                    <a:pt x="0" y="721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12182961" y="6005284"/>
            <a:ext cx="5791200" cy="3619500"/>
            <a:chOff x="0" y="0"/>
            <a:chExt cx="7721600" cy="482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21600" cy="4826000"/>
            </a:xfrm>
            <a:custGeom>
              <a:avLst/>
              <a:gdLst/>
              <a:ahLst/>
              <a:cxnLst/>
              <a:rect l="l" t="t" r="r" b="b"/>
              <a:pathLst>
                <a:path w="7721600" h="4826000">
                  <a:moveTo>
                    <a:pt x="0" y="0"/>
                  </a:moveTo>
                  <a:lnTo>
                    <a:pt x="7721600" y="0"/>
                  </a:lnTo>
                  <a:lnTo>
                    <a:pt x="7721600" y="4826000"/>
                  </a:lnTo>
                  <a:lnTo>
                    <a:pt x="0" y="482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0">
            <a:off x="12182961" y="1847498"/>
            <a:ext cx="5572125" cy="3695700"/>
            <a:chOff x="0" y="0"/>
            <a:chExt cx="7429500" cy="4927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29500" cy="4927600"/>
            </a:xfrm>
            <a:custGeom>
              <a:avLst/>
              <a:gdLst/>
              <a:ahLst/>
              <a:cxnLst/>
              <a:rect l="l" t="t" r="r" b="b"/>
              <a:pathLst>
                <a:path w="7429500" h="4927600">
                  <a:moveTo>
                    <a:pt x="0" y="0"/>
                  </a:moveTo>
                  <a:lnTo>
                    <a:pt x="7429500" y="0"/>
                  </a:lnTo>
                  <a:lnTo>
                    <a:pt x="7429500" y="4927600"/>
                  </a:lnTo>
                  <a:lnTo>
                    <a:pt x="0" y="492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496738" y="6434995"/>
            <a:ext cx="5457825" cy="3314700"/>
            <a:chOff x="0" y="0"/>
            <a:chExt cx="7277100" cy="441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77100" cy="4419600"/>
            </a:xfrm>
            <a:custGeom>
              <a:avLst/>
              <a:gdLst/>
              <a:ahLst/>
              <a:cxnLst/>
              <a:rect l="l" t="t" r="r" b="b"/>
              <a:pathLst>
                <a:path w="7277100" h="4419600">
                  <a:moveTo>
                    <a:pt x="0" y="0"/>
                  </a:moveTo>
                  <a:lnTo>
                    <a:pt x="7277100" y="0"/>
                  </a:lnTo>
                  <a:lnTo>
                    <a:pt x="7277100" y="4419600"/>
                  </a:lnTo>
                  <a:lnTo>
                    <a:pt x="0" y="441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774192" y="3172968"/>
            <a:ext cx="97536" cy="97536"/>
          </a:xfrm>
          <a:custGeom>
            <a:avLst/>
            <a:gdLst/>
            <a:ahLst/>
            <a:cxnLst/>
            <a:rect l="l" t="t" r="r" b="b"/>
            <a:pathLst>
              <a:path w="97536" h="97536">
                <a:moveTo>
                  <a:pt x="0" y="0"/>
                </a:moveTo>
                <a:lnTo>
                  <a:pt x="97536" y="0"/>
                </a:lnTo>
                <a:lnTo>
                  <a:pt x="97536" y="97536"/>
                </a:lnTo>
                <a:lnTo>
                  <a:pt x="0" y="97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74192" y="3685032"/>
            <a:ext cx="97536" cy="97536"/>
          </a:xfrm>
          <a:custGeom>
            <a:avLst/>
            <a:gdLst/>
            <a:ahLst/>
            <a:cxnLst/>
            <a:rect l="l" t="t" r="r" b="b"/>
            <a:pathLst>
              <a:path w="97536" h="97536">
                <a:moveTo>
                  <a:pt x="0" y="0"/>
                </a:moveTo>
                <a:lnTo>
                  <a:pt x="97536" y="0"/>
                </a:lnTo>
                <a:lnTo>
                  <a:pt x="97536" y="97536"/>
                </a:lnTo>
                <a:lnTo>
                  <a:pt x="0" y="97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74192" y="4712208"/>
            <a:ext cx="97536" cy="97536"/>
          </a:xfrm>
          <a:custGeom>
            <a:avLst/>
            <a:gdLst/>
            <a:ahLst/>
            <a:cxnLst/>
            <a:rect l="l" t="t" r="r" b="b"/>
            <a:pathLst>
              <a:path w="97536" h="97536">
                <a:moveTo>
                  <a:pt x="0" y="0"/>
                </a:moveTo>
                <a:lnTo>
                  <a:pt x="97536" y="0"/>
                </a:lnTo>
                <a:lnTo>
                  <a:pt x="97536" y="97536"/>
                </a:lnTo>
                <a:lnTo>
                  <a:pt x="0" y="97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790944" y="5096256"/>
            <a:ext cx="88392" cy="88392"/>
          </a:xfrm>
          <a:custGeom>
            <a:avLst/>
            <a:gdLst/>
            <a:ahLst/>
            <a:cxnLst/>
            <a:rect l="l" t="t" r="r" b="b"/>
            <a:pathLst>
              <a:path w="88392" h="88392">
                <a:moveTo>
                  <a:pt x="0" y="0"/>
                </a:moveTo>
                <a:lnTo>
                  <a:pt x="88392" y="0"/>
                </a:lnTo>
                <a:lnTo>
                  <a:pt x="88392" y="88392"/>
                </a:lnTo>
                <a:lnTo>
                  <a:pt x="0" y="883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790944" y="5571744"/>
            <a:ext cx="88392" cy="88392"/>
          </a:xfrm>
          <a:custGeom>
            <a:avLst/>
            <a:gdLst/>
            <a:ahLst/>
            <a:cxnLst/>
            <a:rect l="l" t="t" r="r" b="b"/>
            <a:pathLst>
              <a:path w="88392" h="88392">
                <a:moveTo>
                  <a:pt x="0" y="0"/>
                </a:moveTo>
                <a:lnTo>
                  <a:pt x="88392" y="0"/>
                </a:lnTo>
                <a:lnTo>
                  <a:pt x="88392" y="88392"/>
                </a:lnTo>
                <a:lnTo>
                  <a:pt x="0" y="883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790944" y="6525768"/>
            <a:ext cx="88392" cy="88392"/>
          </a:xfrm>
          <a:custGeom>
            <a:avLst/>
            <a:gdLst/>
            <a:ahLst/>
            <a:cxnLst/>
            <a:rect l="l" t="t" r="r" b="b"/>
            <a:pathLst>
              <a:path w="88392" h="88392">
                <a:moveTo>
                  <a:pt x="0" y="0"/>
                </a:moveTo>
                <a:lnTo>
                  <a:pt x="88392" y="0"/>
                </a:lnTo>
                <a:lnTo>
                  <a:pt x="88392" y="88392"/>
                </a:lnTo>
                <a:lnTo>
                  <a:pt x="0" y="883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624816" y="6961632"/>
            <a:ext cx="76200" cy="73152"/>
          </a:xfrm>
          <a:custGeom>
            <a:avLst/>
            <a:gdLst/>
            <a:ahLst/>
            <a:cxnLst/>
            <a:rect l="l" t="t" r="r" b="b"/>
            <a:pathLst>
              <a:path w="76200" h="73152">
                <a:moveTo>
                  <a:pt x="0" y="0"/>
                </a:moveTo>
                <a:lnTo>
                  <a:pt x="76200" y="0"/>
                </a:lnTo>
                <a:lnTo>
                  <a:pt x="76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624816" y="7354824"/>
            <a:ext cx="76200" cy="73152"/>
          </a:xfrm>
          <a:custGeom>
            <a:avLst/>
            <a:gdLst/>
            <a:ahLst/>
            <a:cxnLst/>
            <a:rect l="l" t="t" r="r" b="b"/>
            <a:pathLst>
              <a:path w="76200" h="73152">
                <a:moveTo>
                  <a:pt x="0" y="0"/>
                </a:moveTo>
                <a:lnTo>
                  <a:pt x="76200" y="0"/>
                </a:lnTo>
                <a:lnTo>
                  <a:pt x="76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624816" y="774801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624816" y="814120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266220" y="557193"/>
            <a:ext cx="7395400" cy="1387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50"/>
              </a:lnSpc>
            </a:pPr>
            <a:r>
              <a:rPr lang="en-US" sz="8105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ADVANTAGES</a:t>
            </a:r>
            <a:endParaRPr lang="en-US" sz="8105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412428" y="6432575"/>
            <a:ext cx="1347997" cy="39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0"/>
              </a:lnSpc>
            </a:pPr>
            <a:r>
              <a:rPr lang="en-US" sz="2255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Technical</a:t>
            </a:r>
            <a:endParaRPr lang="en-US" sz="2255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899536" y="6839845"/>
            <a:ext cx="5083131" cy="194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5"/>
              </a:lnSpc>
            </a:pPr>
            <a:r>
              <a:rPr lang="en-US" sz="2255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Simple OOP-based structure. Modular design.</a:t>
            </a:r>
            <a:endParaRPr lang="en-US" sz="2255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l">
              <a:lnSpc>
                <a:spcPts val="3075"/>
              </a:lnSpc>
            </a:pPr>
            <a:r>
              <a:rPr lang="en-US" sz="2255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Easy to modify and extend.</a:t>
            </a:r>
            <a:endParaRPr lang="en-US" sz="2255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l">
              <a:lnSpc>
                <a:spcPts val="3075"/>
              </a:lnSpc>
            </a:pPr>
            <a:r>
              <a:rPr lang="en-US" sz="2255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Classes can be reused for additional features.</a:t>
            </a:r>
            <a:endParaRPr lang="en-US" sz="2255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32616" y="4456376"/>
            <a:ext cx="1963741" cy="484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2730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Operational</a:t>
            </a:r>
            <a:endParaRPr lang="en-US" sz="2730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121566" y="4946818"/>
            <a:ext cx="4556093" cy="190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730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Easy inventory monitoring. Quick identification of low stock.</a:t>
            </a:r>
            <a:endParaRPr lang="en-US" sz="2730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l">
              <a:lnSpc>
                <a:spcPts val="3750"/>
              </a:lnSpc>
            </a:pPr>
            <a:r>
              <a:rPr lang="en-US" sz="2730" b="1">
                <a:solidFill>
                  <a:srgbClr val="FBF6F1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Timely supplier reordering.</a:t>
            </a:r>
            <a:endParaRPr lang="en-US" sz="2730" b="1">
              <a:solidFill>
                <a:srgbClr val="FBF6F1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96738" y="2483206"/>
            <a:ext cx="2642378" cy="51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293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Environmental</a:t>
            </a:r>
            <a:endParaRPr lang="en-US" sz="293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30741" y="3015291"/>
            <a:ext cx="4736001" cy="252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293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Reduces packagingw aste.</a:t>
            </a:r>
            <a:endParaRPr lang="en-US" sz="293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l">
              <a:lnSpc>
                <a:spcPts val="3995"/>
              </a:lnSpc>
            </a:pPr>
            <a:r>
              <a:rPr lang="en-US" sz="293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Encourages appropriate package sizes.</a:t>
            </a:r>
            <a:endParaRPr lang="en-US" sz="293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  <a:p>
            <a:pPr algn="l">
              <a:lnSpc>
                <a:spcPts val="3995"/>
              </a:lnSpc>
            </a:pPr>
            <a:r>
              <a:rPr lang="en-US" sz="293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Supports sustainable materials.</a:t>
            </a:r>
            <a:endParaRPr lang="en-US" sz="293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12337" y="694277"/>
            <a:ext cx="16859250" cy="8896350"/>
            <a:chOff x="0" y="0"/>
            <a:chExt cx="22479000" cy="11861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79000" cy="11861800"/>
            </a:xfrm>
            <a:custGeom>
              <a:avLst/>
              <a:gdLst/>
              <a:ahLst/>
              <a:cxnLst/>
              <a:rect l="l" t="t" r="r" b="b"/>
              <a:pathLst>
                <a:path w="22479000" h="11861800">
                  <a:moveTo>
                    <a:pt x="0" y="0"/>
                  </a:moveTo>
                  <a:lnTo>
                    <a:pt x="22479000" y="0"/>
                  </a:lnTo>
                  <a:lnTo>
                    <a:pt x="22479000" y="11861800"/>
                  </a:lnTo>
                  <a:lnTo>
                    <a:pt x="0" y="1186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848417" y="2110369"/>
            <a:ext cx="7327849" cy="135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85"/>
              </a:lnSpc>
            </a:pPr>
            <a:r>
              <a:rPr lang="en-US" sz="7915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CONCLUSION </a:t>
            </a:r>
            <a:endParaRPr lang="en-US" sz="7915" b="1">
              <a:solidFill>
                <a:srgbClr val="185079"/>
              </a:solidFill>
              <a:latin typeface="Open Sauce Semi-Bold" panose="00000700000000000000"/>
              <a:ea typeface="Open Sauce Semi-Bold" panose="00000700000000000000"/>
              <a:cs typeface="Open Sauce Semi-Bold" panose="00000700000000000000"/>
              <a:sym typeface="Open Sauce Semi-Bold" panose="000007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366842" y="3679575"/>
            <a:ext cx="12684338" cy="431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75"/>
              </a:lnSpc>
            </a:pPr>
            <a:r>
              <a:rPr lang="en-US" sz="3605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The system helps manage e-commerce packaging efficiently.</a:t>
            </a:r>
            <a:endParaRPr lang="en-US" sz="3605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4875"/>
              </a:lnSpc>
            </a:pPr>
            <a:r>
              <a:rPr lang="en-US" sz="3605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Smart Package selects a suitable package size. Supplier Reorder helps maintain sufficient stock.</a:t>
            </a:r>
            <a:endParaRPr lang="en-US" sz="3605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  <a:p>
            <a:pPr algn="just">
              <a:lnSpc>
                <a:spcPts val="4875"/>
              </a:lnSpc>
            </a:pPr>
            <a:r>
              <a:rPr lang="en-US" sz="3605" b="1">
                <a:solidFill>
                  <a:srgbClr val="185079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It reduces unnecessary packaging and material waste. Overall, the system supports efficient and sustainable e-commerce packaging management.</a:t>
            </a:r>
            <a:endParaRPr lang="en-US" sz="3605" b="1">
              <a:solidFill>
                <a:srgbClr val="185079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5608034" y="0"/>
            <a:ext cx="12679966" cy="10287000"/>
            <a:chOff x="0" y="0"/>
            <a:chExt cx="16906621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06621" cy="13716000"/>
            </a:xfrm>
            <a:custGeom>
              <a:avLst/>
              <a:gdLst/>
              <a:ahLst/>
              <a:cxnLst/>
              <a:rect l="l" t="t" r="r" b="b"/>
              <a:pathLst>
                <a:path w="16906621" h="13716000">
                  <a:moveTo>
                    <a:pt x="0" y="0"/>
                  </a:moveTo>
                  <a:lnTo>
                    <a:pt x="16906621" y="0"/>
                  </a:lnTo>
                  <a:lnTo>
                    <a:pt x="1690662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1965" r="-75000" b="-41910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86254" y="418938"/>
            <a:ext cx="6563039" cy="128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80"/>
              </a:lnSpc>
            </a:pPr>
            <a:r>
              <a:rPr lang="en-US" sz="741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REFERENCES</a:t>
            </a:r>
            <a:endParaRPr lang="en-US" sz="741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855824" y="2060743"/>
            <a:ext cx="96336" cy="46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267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 </a:t>
            </a:r>
            <a:endParaRPr lang="en-US" sz="267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14350" y="2060743"/>
            <a:ext cx="17604362" cy="46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267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•1. J. Park, A.Waqar, andL.V. Snyder,"Environmental Analysis of Returnable Packaging Systems in</a:t>
            </a:r>
            <a:endParaRPr lang="en-US" sz="267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14350" y="2536993"/>
            <a:ext cx="17604419" cy="92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675" b="1" spc="26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Different E-Commerce Business and Packaging Management Models," Journal of Industrial Ecology, vol. 28, no. 2, pp. 345–361, 2024.</a:t>
            </a:r>
            <a:endParaRPr lang="en-US" sz="2675" b="1" spc="26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4350" y="3833241"/>
            <a:ext cx="17604476" cy="92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675" b="1" spc="16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•2. B. Frommeyer et al., "Recycled or Reusable: A Multi-Method Assessment of Eco-Friendly Packaging in Online Retail," Journal of Industrial Ecology, vol. 28, no. 1, pp. 112–129, 2024.</a:t>
            </a:r>
            <a:endParaRPr lang="en-US" sz="2675" b="1" spc="16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14350" y="5337343"/>
            <a:ext cx="17604438" cy="92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75"/>
              </a:lnSpc>
            </a:pPr>
            <a:r>
              <a:rPr lang="en-US" sz="267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•3. J. Clement and S. Spinler, "Advancing SustainabilityinE-CommercePackaging:ASimulation-Based Study for Managing Returnable TransportItems,"TransportationResearchPartE:Logisticsand</a:t>
            </a:r>
            <a:endParaRPr lang="en-US" sz="267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14350" y="4684357"/>
            <a:ext cx="8877138" cy="260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267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Transportation Review, vol. 186, Ar</a:t>
            </a:r>
            <a:r>
              <a:rPr lang="en-US" sz="267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 </a:t>
            </a:r>
            <a:r>
              <a:rPr lang="en-US" sz="267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t. no. 103512, 2024.</a:t>
            </a:r>
            <a:endParaRPr lang="en-US" sz="267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14350" y="7204243"/>
            <a:ext cx="17604419" cy="92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675" b="1" spc="6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•4. B. Stroustrup, Programming: Principles and Practice Using C++, 2nd ed. Boston, MA, USA: ddison- Wesley, 2020.</a:t>
            </a:r>
            <a:endParaRPr lang="en-US" sz="2675" b="1" spc="6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14350" y="8575843"/>
            <a:ext cx="17604448" cy="92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67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•5. E. Balagurusamy, Object-Oriented Programming with C++, 8th ed. New Delhi, India: McGraw-Hill Education, 2020.</a:t>
            </a:r>
            <a:endParaRPr lang="en-US" sz="267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8616150" y="0"/>
            <a:ext cx="12679966" cy="10287000"/>
            <a:chOff x="0" y="0"/>
            <a:chExt cx="16906621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06621" cy="13716000"/>
            </a:xfrm>
            <a:custGeom>
              <a:avLst/>
              <a:gdLst/>
              <a:ahLst/>
              <a:cxnLst/>
              <a:rect l="l" t="t" r="r" b="b"/>
              <a:pathLst>
                <a:path w="16906621" h="13716000">
                  <a:moveTo>
                    <a:pt x="0" y="0"/>
                  </a:moveTo>
                  <a:lnTo>
                    <a:pt x="16906621" y="0"/>
                  </a:lnTo>
                  <a:lnTo>
                    <a:pt x="1690662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1965" r="-75000" b="-41910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762000" y="647700"/>
            <a:ext cx="10814050" cy="1176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75"/>
              </a:lnSpc>
              <a:spcBef>
                <a:spcPct val="0"/>
              </a:spcBef>
            </a:pPr>
            <a:r>
              <a:rPr lang="en-US" sz="655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GITHUB PROFILE</a:t>
            </a:r>
            <a:endParaRPr lang="en-US" sz="655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37000" y="4556125"/>
            <a:ext cx="11488420" cy="810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sz="4515" b="1">
                <a:solidFill>
                  <a:srgbClr val="185079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  <a:hlinkClick r:id="rId3" tooltip="https://github.com/sandhyaranisethi"/>
              </a:rPr>
              <a:t>https://github.com/sandhyaranisethi</a:t>
            </a:r>
            <a:endParaRPr lang="en-US" sz="4515" b="1">
              <a:solidFill>
                <a:srgbClr val="185079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  <a:hlinkClick r:id="rId3" tooltip="https://github.com/sandhyaraniseth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13317" y="-1962398"/>
            <a:ext cx="20145375" cy="13420725"/>
            <a:chOff x="0" y="0"/>
            <a:chExt cx="26860500" cy="17894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60500" cy="17894300"/>
            </a:xfrm>
            <a:custGeom>
              <a:avLst/>
              <a:gdLst/>
              <a:ahLst/>
              <a:cxnLst/>
              <a:rect l="l" t="t" r="r" b="b"/>
              <a:pathLst>
                <a:path w="26860500" h="17894300">
                  <a:moveTo>
                    <a:pt x="0" y="0"/>
                  </a:moveTo>
                  <a:lnTo>
                    <a:pt x="26860500" y="0"/>
                  </a:lnTo>
                  <a:lnTo>
                    <a:pt x="26860500" y="17894300"/>
                  </a:lnTo>
                  <a:lnTo>
                    <a:pt x="0" y="1789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alphaModFix amt="34000"/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5608034" y="0"/>
            <a:ext cx="12679966" cy="10287000"/>
            <a:chOff x="0" y="0"/>
            <a:chExt cx="16906621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06621" cy="13716000"/>
            </a:xfrm>
            <a:custGeom>
              <a:avLst/>
              <a:gdLst/>
              <a:ahLst/>
              <a:cxnLst/>
              <a:rect l="l" t="t" r="r" b="b"/>
              <a:pathLst>
                <a:path w="16906621" h="13716000">
                  <a:moveTo>
                    <a:pt x="0" y="0"/>
                  </a:moveTo>
                  <a:lnTo>
                    <a:pt x="16906621" y="0"/>
                  </a:lnTo>
                  <a:lnTo>
                    <a:pt x="1690662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1965" r="-75000" b="-41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3060637" y="2585609"/>
            <a:ext cx="1198216" cy="822246"/>
            <a:chOff x="0" y="0"/>
            <a:chExt cx="1198220" cy="822249"/>
          </a:xfrm>
        </p:grpSpPr>
        <p:sp>
          <p:nvSpPr>
            <p:cNvPr id="7" name="Freeform 7"/>
            <p:cNvSpPr/>
            <p:nvPr/>
          </p:nvSpPr>
          <p:spPr>
            <a:xfrm>
              <a:off x="127635" y="138430"/>
              <a:ext cx="942340" cy="544703"/>
            </a:xfrm>
            <a:custGeom>
              <a:avLst/>
              <a:gdLst/>
              <a:ahLst/>
              <a:cxnLst/>
              <a:rect l="l" t="t" r="r" b="b"/>
              <a:pathLst>
                <a:path w="942340" h="544703">
                  <a:moveTo>
                    <a:pt x="656590" y="0"/>
                  </a:moveTo>
                  <a:lnTo>
                    <a:pt x="399161" y="257683"/>
                  </a:lnTo>
                  <a:lnTo>
                    <a:pt x="456565" y="315087"/>
                  </a:lnTo>
                  <a:lnTo>
                    <a:pt x="714121" y="57404"/>
                  </a:lnTo>
                  <a:lnTo>
                    <a:pt x="656590" y="0"/>
                  </a:lnTo>
                  <a:close/>
                  <a:moveTo>
                    <a:pt x="57404" y="260477"/>
                  </a:moveTo>
                  <a:lnTo>
                    <a:pt x="0" y="318008"/>
                  </a:lnTo>
                  <a:lnTo>
                    <a:pt x="226822" y="544703"/>
                  </a:lnTo>
                  <a:lnTo>
                    <a:pt x="284226" y="487299"/>
                  </a:lnTo>
                  <a:lnTo>
                    <a:pt x="57404" y="260477"/>
                  </a:lnTo>
                  <a:close/>
                  <a:moveTo>
                    <a:pt x="886460" y="0"/>
                  </a:moveTo>
                  <a:lnTo>
                    <a:pt x="456438" y="429895"/>
                  </a:lnTo>
                  <a:lnTo>
                    <a:pt x="287020" y="260477"/>
                  </a:lnTo>
                  <a:lnTo>
                    <a:pt x="229616" y="317881"/>
                  </a:lnTo>
                  <a:lnTo>
                    <a:pt x="456438" y="544703"/>
                  </a:lnTo>
                  <a:lnTo>
                    <a:pt x="942340" y="58801"/>
                  </a:lnTo>
                  <a:lnTo>
                    <a:pt x="942340" y="56007"/>
                  </a:lnTo>
                  <a:lnTo>
                    <a:pt x="886460" y="0"/>
                  </a:lnTo>
                  <a:close/>
                </a:path>
              </a:pathLst>
            </a:custGeom>
            <a:solidFill>
              <a:srgbClr val="3885AB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63500" y="63500"/>
              <a:ext cx="1071245" cy="695198"/>
            </a:xfrm>
            <a:custGeom>
              <a:avLst/>
              <a:gdLst/>
              <a:ahLst/>
              <a:cxnLst/>
              <a:rect l="l" t="t" r="r" b="b"/>
              <a:pathLst>
                <a:path w="1071245" h="695198">
                  <a:moveTo>
                    <a:pt x="0" y="695198"/>
                  </a:moveTo>
                  <a:lnTo>
                    <a:pt x="1071245" y="695198"/>
                  </a:lnTo>
                  <a:lnTo>
                    <a:pt x="10712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5257549" y="2552881"/>
            <a:ext cx="9067371" cy="552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0"/>
              </a:lnSpc>
            </a:pPr>
            <a:r>
              <a:rPr lang="en-US" sz="15400" b="1">
                <a:solidFill>
                  <a:srgbClr val="185079"/>
                </a:solidFill>
                <a:latin typeface="Open Sauce Semi-Bold" panose="00000700000000000000"/>
                <a:ea typeface="Open Sauce Semi-Bold" panose="00000700000000000000"/>
                <a:cs typeface="Open Sauce Semi-Bold" panose="00000700000000000000"/>
                <a:sym typeface="Open Sauce Semi-Bold" panose="00000700000000000000"/>
              </a:rPr>
              <a:t> </a:t>
            </a:r>
            <a:r>
              <a:rPr lang="en-US" sz="15400">
                <a:solidFill>
                  <a:srgbClr val="185079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THANK</a:t>
            </a:r>
            <a:endParaRPr lang="en-US" sz="15400">
              <a:solidFill>
                <a:srgbClr val="185079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  <a:p>
            <a:pPr algn="l">
              <a:lnSpc>
                <a:spcPts val="21560"/>
              </a:lnSpc>
            </a:pPr>
            <a:r>
              <a:rPr lang="en-US" sz="15400">
                <a:solidFill>
                  <a:srgbClr val="185079"/>
                </a:solidFill>
                <a:latin typeface="Open Sauce" panose="00000500000000000000"/>
                <a:ea typeface="Open Sauce" panose="00000500000000000000"/>
                <a:cs typeface="Open Sauce" panose="00000500000000000000"/>
                <a:sym typeface="Open Sauce" panose="00000500000000000000"/>
              </a:rPr>
              <a:t>    YOU</a:t>
            </a:r>
            <a:endParaRPr lang="en-US" sz="15400">
              <a:solidFill>
                <a:srgbClr val="185079"/>
              </a:solidFill>
              <a:latin typeface="Open Sauce" panose="00000500000000000000"/>
              <a:ea typeface="Open Sauce" panose="00000500000000000000"/>
              <a:cs typeface="Open Sauce" panose="00000500000000000000"/>
              <a:sym typeface="Open Sauce" panose="00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5402</Words>
  <Application>WPS Presentation</Application>
  <PresentationFormat>On-screen Show (4:3)</PresentationFormat>
  <Paragraphs>222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Open Sauce Bold</vt:lpstr>
      <vt:lpstr>Open Sauce</vt:lpstr>
      <vt:lpstr>Open Sauce Semi-Bold</vt:lpstr>
      <vt:lpstr>Arimo Bold</vt:lpstr>
      <vt:lpstr>Open Sauce Medium</vt:lpstr>
      <vt:lpstr>CanvaSansSC-Regular</vt:lpstr>
      <vt:lpstr>Arimo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PROJECT.pdf</dc:title>
  <dc:creator/>
  <cp:lastModifiedBy>Admin</cp:lastModifiedBy>
  <cp:revision>3</cp:revision>
  <dcterms:created xsi:type="dcterms:W3CDTF">2006-08-16T00:00:00Z</dcterms:created>
  <dcterms:modified xsi:type="dcterms:W3CDTF">2026-09-06T10:14:46Z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EBCF85A71B6743C9863992D1F186C854_12</vt:lpwstr>
  </property>
</Properties>
</file>